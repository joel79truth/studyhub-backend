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65" r:id="rId3"/>
    <p:sldId id="266" r:id="rId4"/>
    <p:sldId id="267" r:id="rId5"/>
    <p:sldId id="268" r:id="rId6"/>
    <p:sldId id="269" r:id="rId7"/>
    <p:sldId id="270" r:id="rId8"/>
    <p:sldId id="271" r:id="rId9"/>
    <p:sldId id="272" r:id="rId10"/>
    <p:sldId id="273" r:id="rId11"/>
    <p:sldId id="287" r:id="rId12"/>
    <p:sldId id="278" r:id="rId13"/>
    <p:sldId id="279" r:id="rId14"/>
    <p:sldId id="280" r:id="rId15"/>
    <p:sldId id="281" r:id="rId16"/>
    <p:sldId id="282" r:id="rId17"/>
    <p:sldId id="283" r:id="rId18"/>
    <p:sldId id="284" r:id="rId19"/>
    <p:sldId id="285" r:id="rId20"/>
    <p:sldId id="286" r:id="rId21"/>
    <p:sldId id="289" r:id="rId22"/>
    <p:sldId id="291" r:id="rId23"/>
    <p:sldId id="293" r:id="rId24"/>
    <p:sldId id="295" r:id="rId2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000" autoAdjust="0"/>
    <p:restoredTop sz="94660"/>
  </p:normalViewPr>
  <p:slideViewPr>
    <p:cSldViewPr snapToGrid="0">
      <p:cViewPr varScale="1">
        <p:scale>
          <a:sx n="61" d="100"/>
          <a:sy n="61" d="100"/>
        </p:scale>
        <p:origin x="867" y="2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16934" y="0"/>
            <a:ext cx="12231160" cy="6856214"/>
            <a:chOff x="-16934" y="0"/>
            <a:chExt cx="12231160" cy="6856214"/>
          </a:xfrm>
        </p:grpSpPr>
        <p:pic>
          <p:nvPicPr>
            <p:cNvPr id="16" name="Picture 15" descr="HD-PanelTitleR1.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6" name="Rectangle 25"/>
            <p:cNvSpPr/>
            <p:nvPr/>
          </p:nvSpPr>
          <p:spPr>
            <a:xfrm>
              <a:off x="2328332" y="1540931"/>
              <a:ext cx="7543802" cy="3835401"/>
            </a:xfrm>
            <a:prstGeom prst="rect">
              <a:avLst/>
            </a:prstGeom>
            <a:noFill/>
            <a:ln w="15875">
              <a:miter lim="800000"/>
            </a:ln>
          </p:spPr>
          <p:style>
            <a:lnRef idx="1">
              <a:schemeClr val="accent1"/>
            </a:lnRef>
            <a:fillRef idx="3">
              <a:schemeClr val="accent1"/>
            </a:fillRef>
            <a:effectRef idx="2">
              <a:schemeClr val="accent1"/>
            </a:effectRef>
            <a:fontRef idx="minor">
              <a:schemeClr val="lt1"/>
            </a:fontRef>
          </p:style>
        </p:sp>
        <p:pic>
          <p:nvPicPr>
            <p:cNvPr id="17" name="Picture 16" descr="HDRibbonTitle-UniformTrim.png"/>
            <p:cNvPicPr>
              <a:picLocks noChangeAspect="1"/>
            </p:cNvPicPr>
            <p:nvPr/>
          </p:nvPicPr>
          <p:blipFill rotWithShape="1">
            <a:blip r:embed="rId3">
              <a:extLst>
                <a:ext uri="{28A0092B-C50C-407E-A947-70E740481C1C}">
                  <a14:useLocalDpi xmlns:a14="http://schemas.microsoft.com/office/drawing/2010/main" val="0"/>
                </a:ext>
              </a:extLst>
            </a:blip>
            <a:srcRect/>
            <a:stretch/>
          </p:blipFill>
          <p:spPr>
            <a:xfrm>
              <a:off x="-16934" y="3147609"/>
              <a:ext cx="2478024" cy="612648"/>
            </a:xfrm>
            <a:prstGeom prst="rect">
              <a:avLst/>
            </a:prstGeom>
          </p:spPr>
        </p:pic>
        <p:pic>
          <p:nvPicPr>
            <p:cNvPr id="20" name="Picture 19" descr="HDRibbonTitle-UniformTrim.png"/>
            <p:cNvPicPr>
              <a:picLocks noChangeAspect="1"/>
            </p:cNvPicPr>
            <p:nvPr/>
          </p:nvPicPr>
          <p:blipFill rotWithShape="1">
            <a:blip r:embed="rId3">
              <a:extLst>
                <a:ext uri="{28A0092B-C50C-407E-A947-70E740481C1C}">
                  <a14:useLocalDpi xmlns:a14="http://schemas.microsoft.com/office/drawing/2010/main" val="0"/>
                </a:ext>
              </a:extLst>
            </a:blip>
            <a:srcRect/>
            <a:stretch/>
          </p:blipFill>
          <p:spPr>
            <a:xfrm>
              <a:off x="9736202" y="3147609"/>
              <a:ext cx="2478024" cy="612648"/>
            </a:xfrm>
            <a:prstGeom prst="rect">
              <a:avLst/>
            </a:prstGeom>
          </p:spPr>
        </p:pic>
      </p:grpSp>
      <p:sp>
        <p:nvSpPr>
          <p:cNvPr id="2" name="Title 1"/>
          <p:cNvSpPr>
            <a:spLocks noGrp="1"/>
          </p:cNvSpPr>
          <p:nvPr>
            <p:ph type="ctrTitle"/>
          </p:nvPr>
        </p:nvSpPr>
        <p:spPr>
          <a:xfrm>
            <a:off x="2692398" y="1871131"/>
            <a:ext cx="6815669" cy="1515533"/>
          </a:xfrm>
        </p:spPr>
        <p:txBody>
          <a:bodyPr anchor="b">
            <a:noAutofit/>
          </a:bodyPr>
          <a:lstStyle>
            <a:lvl1pPr algn="ctr">
              <a:defRPr sz="5400">
                <a:effectLst/>
              </a:defRPr>
            </a:lvl1pPr>
          </a:lstStyle>
          <a:p>
            <a:r>
              <a:rPr lang="en-US" smtClean="0"/>
              <a:t>Click to edit Master title style</a:t>
            </a:r>
            <a:endParaRPr lang="en-US" dirty="0"/>
          </a:p>
        </p:txBody>
      </p:sp>
      <p:sp>
        <p:nvSpPr>
          <p:cNvPr id="3" name="Subtitle 2"/>
          <p:cNvSpPr>
            <a:spLocks noGrp="1"/>
          </p:cNvSpPr>
          <p:nvPr>
            <p:ph type="subTitle" idx="1"/>
          </p:nvPr>
        </p:nvSpPr>
        <p:spPr>
          <a:xfrm>
            <a:off x="2692398" y="3657597"/>
            <a:ext cx="6815669" cy="1320802"/>
          </a:xfrm>
        </p:spPr>
        <p:txBody>
          <a:bodyPr anchor="t">
            <a:normAutofit/>
          </a:bodyPr>
          <a:lstStyle>
            <a:lvl1pPr marL="0" indent="0" algn="ctr">
              <a:buNone/>
              <a:defRPr sz="21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p:cNvSpPr>
            <a:spLocks noGrp="1"/>
          </p:cNvSpPr>
          <p:nvPr>
            <p:ph type="dt" sz="half" idx="10"/>
          </p:nvPr>
        </p:nvSpPr>
        <p:spPr>
          <a:xfrm>
            <a:off x="7983232" y="5037663"/>
            <a:ext cx="897467" cy="279400"/>
          </a:xfrm>
        </p:spPr>
        <p:txBody>
          <a:bodyPr/>
          <a:lstStyle/>
          <a:p>
            <a:fld id="{B7342BA8-35C7-4B44-8BE1-9B2078E8C16E}" type="datetimeFigureOut">
              <a:rPr lang="en-US" smtClean="0"/>
              <a:t>09-Feb-25</a:t>
            </a:fld>
            <a:endParaRPr lang="en-US"/>
          </a:p>
        </p:txBody>
      </p:sp>
      <p:sp>
        <p:nvSpPr>
          <p:cNvPr id="5" name="Footer Placeholder 4"/>
          <p:cNvSpPr>
            <a:spLocks noGrp="1"/>
          </p:cNvSpPr>
          <p:nvPr>
            <p:ph type="ftr" sz="quarter" idx="11"/>
          </p:nvPr>
        </p:nvSpPr>
        <p:spPr>
          <a:xfrm>
            <a:off x="2692397" y="5037663"/>
            <a:ext cx="5214635" cy="279400"/>
          </a:xfrm>
        </p:spPr>
        <p:txBody>
          <a:bodyPr/>
          <a:lstStyle/>
          <a:p>
            <a:endParaRPr lang="en-US"/>
          </a:p>
        </p:txBody>
      </p:sp>
      <p:sp>
        <p:nvSpPr>
          <p:cNvPr id="6" name="Slide Number Placeholder 5"/>
          <p:cNvSpPr>
            <a:spLocks noGrp="1"/>
          </p:cNvSpPr>
          <p:nvPr>
            <p:ph type="sldNum" sz="quarter" idx="12"/>
          </p:nvPr>
        </p:nvSpPr>
        <p:spPr>
          <a:xfrm>
            <a:off x="8956900" y="5037663"/>
            <a:ext cx="551167" cy="279400"/>
          </a:xfrm>
        </p:spPr>
        <p:txBody>
          <a:bodyPr/>
          <a:lstStyle/>
          <a:p>
            <a:fld id="{421AF88D-F0EA-498A-A6A0-217938B08A2A}" type="slidenum">
              <a:rPr lang="en-US" smtClean="0"/>
              <a:t>‹#›</a:t>
            </a:fld>
            <a:endParaRPr lang="en-US"/>
          </a:p>
        </p:txBody>
      </p:sp>
      <p:cxnSp>
        <p:nvCxnSpPr>
          <p:cNvPr id="15" name="Straight Connector 14"/>
          <p:cNvCxnSpPr/>
          <p:nvPr/>
        </p:nvCxnSpPr>
        <p:spPr>
          <a:xfrm>
            <a:off x="2692399" y="3522131"/>
            <a:ext cx="6815668" cy="0"/>
          </a:xfrm>
          <a:prstGeom prst="line">
            <a:avLst/>
          </a:prstGeom>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40988238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cxnSp>
        <p:nvCxnSpPr>
          <p:cNvPr id="7" name="Straight Connector 6"/>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B7342BA8-35C7-4B44-8BE1-9B2078E8C16E}" type="datetimeFigureOut">
              <a:rPr lang="en-US" smtClean="0"/>
              <a:t>09-Feb-25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21AF88D-F0EA-498A-A6A0-217938B08A2A}" type="slidenum">
              <a:rPr lang="en-US" smtClean="0"/>
              <a:t>‹#›</a:t>
            </a:fld>
            <a:endParaRPr lang="en-US"/>
          </a:p>
        </p:txBody>
      </p:sp>
    </p:spTree>
    <p:extLst>
      <p:ext uri="{BB962C8B-B14F-4D97-AF65-F5344CB8AC3E}">
        <p14:creationId xmlns:p14="http://schemas.microsoft.com/office/powerpoint/2010/main" val="11872918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015069" y="1752606"/>
            <a:ext cx="8158688" cy="1822514"/>
          </a:xfrm>
        </p:spPr>
        <p:txBody>
          <a:bodyPr anchor="b">
            <a:normAutofit/>
          </a:bodyPr>
          <a:lstStyle>
            <a:lvl1pPr algn="ctr">
              <a:defRPr sz="44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2015067" y="3846051"/>
            <a:ext cx="8158690" cy="954547"/>
          </a:xfrm>
        </p:spPr>
        <p:txBody>
          <a:bodyPr anchor="t">
            <a:normAutofit/>
          </a:bodyPr>
          <a:lstStyle>
            <a:lvl1pPr marL="0" indent="0" algn="ctr">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B7342BA8-35C7-4B44-8BE1-9B2078E8C16E}" type="datetimeFigureOut">
              <a:rPr lang="en-US" smtClean="0"/>
              <a:t>09-Feb-25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21AF88D-F0EA-498A-A6A0-217938B08A2A}" type="slidenum">
              <a:rPr lang="en-US" smtClean="0"/>
              <a:t>‹#›</a:t>
            </a:fld>
            <a:endParaRPr lang="en-US"/>
          </a:p>
        </p:txBody>
      </p:sp>
      <p:cxnSp>
        <p:nvCxnSpPr>
          <p:cNvPr id="16" name="Straight Connector 15"/>
          <p:cNvCxnSpPr/>
          <p:nvPr/>
        </p:nvCxnSpPr>
        <p:spPr>
          <a:xfrm>
            <a:off x="2012723" y="3710585"/>
            <a:ext cx="8163380"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49793238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cxnSp>
        <p:nvCxnSpPr>
          <p:cNvPr id="8" name="Straight Connector 7"/>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1298448" y="2560320"/>
            <a:ext cx="4718304" cy="3310128"/>
          </a:xfrm>
        </p:spPr>
        <p:txBody>
          <a:bodyP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6181344" y="2560320"/>
            <a:ext cx="4718304" cy="3310128"/>
          </a:xfrm>
        </p:spPr>
        <p:txBody>
          <a:bodyP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B7342BA8-35C7-4B44-8BE1-9B2078E8C16E}" type="datetimeFigureOut">
              <a:rPr lang="en-US" smtClean="0"/>
              <a:t>09-Feb-25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21AF88D-F0EA-498A-A6A0-217938B08A2A}" type="slidenum">
              <a:rPr lang="en-US" smtClean="0"/>
              <a:t>‹#›</a:t>
            </a:fld>
            <a:endParaRPr lang="en-US"/>
          </a:p>
        </p:txBody>
      </p:sp>
    </p:spTree>
    <p:extLst>
      <p:ext uri="{BB962C8B-B14F-4D97-AF65-F5344CB8AC3E}">
        <p14:creationId xmlns:p14="http://schemas.microsoft.com/office/powerpoint/2010/main" val="57109407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dirty="0"/>
          </a:p>
        </p:txBody>
      </p:sp>
      <p:sp>
        <p:nvSpPr>
          <p:cNvPr id="3" name="Text Placeholder 2"/>
          <p:cNvSpPr>
            <a:spLocks noGrp="1"/>
          </p:cNvSpPr>
          <p:nvPr>
            <p:ph type="body" idx="1"/>
          </p:nvPr>
        </p:nvSpPr>
        <p:spPr>
          <a:xfrm>
            <a:off x="1295400" y="2658533"/>
            <a:ext cx="4718304" cy="576262"/>
          </a:xfrm>
        </p:spPr>
        <p:txBody>
          <a:bodyPr anchor="b">
            <a:noAutofit/>
          </a:bodyPr>
          <a:lstStyle>
            <a:lvl1pPr marL="0" indent="0">
              <a:spcBef>
                <a:spcPts val="672"/>
              </a:spcBef>
              <a:spcAft>
                <a:spcPts val="600"/>
              </a:spcAft>
              <a:buNone/>
              <a:defRPr sz="28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1295400" y="3243262"/>
            <a:ext cx="4718304" cy="2632605"/>
          </a:xfrm>
        </p:spPr>
        <p:txBody>
          <a:bodyPr anchor="t">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6180670" y="2658533"/>
            <a:ext cx="4718304" cy="576262"/>
          </a:xfrm>
        </p:spPr>
        <p:txBody>
          <a:bodyPr anchor="b">
            <a:noAutofit/>
          </a:bodyPr>
          <a:lstStyle>
            <a:lvl1pPr marL="0" indent="0">
              <a:spcBef>
                <a:spcPts val="672"/>
              </a:spcBef>
              <a:spcAft>
                <a:spcPts val="600"/>
              </a:spcAft>
              <a:buNone/>
              <a:defRPr sz="28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180670" y="3243262"/>
            <a:ext cx="4718304" cy="2632605"/>
          </a:xfrm>
        </p:spPr>
        <p:txBody>
          <a:bodyPr anchor="t">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B7342BA8-35C7-4B44-8BE1-9B2078E8C16E}" type="datetimeFigureOut">
              <a:rPr lang="en-US" smtClean="0"/>
              <a:t>09-Feb-25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421AF88D-F0EA-498A-A6A0-217938B08A2A}" type="slidenum">
              <a:rPr lang="en-US" smtClean="0"/>
              <a:t>‹#›</a:t>
            </a:fld>
            <a:endParaRPr lang="en-US"/>
          </a:p>
        </p:txBody>
      </p:sp>
      <p:cxnSp>
        <p:nvCxnSpPr>
          <p:cNvPr id="18" name="Straight Connector 17"/>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97986383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B7342BA8-35C7-4B44-8BE1-9B2078E8C16E}" type="datetimeFigureOut">
              <a:rPr lang="en-US" smtClean="0"/>
              <a:t>09-Feb-25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421AF88D-F0EA-498A-A6A0-217938B08A2A}" type="slidenum">
              <a:rPr lang="en-US" smtClean="0"/>
              <a:t>‹#›</a:t>
            </a:fld>
            <a:endParaRPr lang="en-US"/>
          </a:p>
        </p:txBody>
      </p:sp>
      <p:cxnSp>
        <p:nvCxnSpPr>
          <p:cNvPr id="14" name="Straight Connector 13"/>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61231818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7342BA8-35C7-4B44-8BE1-9B2078E8C16E}" type="datetimeFigureOut">
              <a:rPr lang="en-US" smtClean="0"/>
              <a:t>09-Feb-25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421AF88D-F0EA-498A-A6A0-217938B08A2A}" type="slidenum">
              <a:rPr lang="en-US" smtClean="0"/>
              <a:t>‹#›</a:t>
            </a:fld>
            <a:endParaRPr lang="en-US"/>
          </a:p>
        </p:txBody>
      </p:sp>
    </p:spTree>
    <p:extLst>
      <p:ext uri="{BB962C8B-B14F-4D97-AF65-F5344CB8AC3E}">
        <p14:creationId xmlns:p14="http://schemas.microsoft.com/office/powerpoint/2010/main" val="294190083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3811" y="1388534"/>
            <a:ext cx="3718455" cy="1371600"/>
          </a:xfrm>
        </p:spPr>
        <p:txBody>
          <a:bodyPr anchor="b">
            <a:normAutofit/>
          </a:bodyPr>
          <a:lstStyle>
            <a:lvl1pPr algn="ctr">
              <a:defRPr sz="2400" b="0"/>
            </a:lvl1pPr>
          </a:lstStyle>
          <a:p>
            <a:r>
              <a:rPr lang="en-US" smtClean="0"/>
              <a:t>Click to edit Master title style</a:t>
            </a:r>
            <a:endParaRPr lang="en-US" dirty="0"/>
          </a:p>
        </p:txBody>
      </p:sp>
      <p:sp>
        <p:nvSpPr>
          <p:cNvPr id="3" name="Content Placeholder 2"/>
          <p:cNvSpPr>
            <a:spLocks noGrp="1"/>
          </p:cNvSpPr>
          <p:nvPr>
            <p:ph idx="1"/>
          </p:nvPr>
        </p:nvSpPr>
        <p:spPr>
          <a:xfrm>
            <a:off x="5418668" y="982131"/>
            <a:ext cx="5469466" cy="4893735"/>
          </a:xfrm>
        </p:spPr>
        <p:txBody>
          <a:bodyPr anchor="ct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1293811" y="3031065"/>
            <a:ext cx="3718455" cy="2438404"/>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Date Placeholder 4"/>
          <p:cNvSpPr>
            <a:spLocks noGrp="1"/>
          </p:cNvSpPr>
          <p:nvPr>
            <p:ph type="dt" sz="half" idx="10"/>
          </p:nvPr>
        </p:nvSpPr>
        <p:spPr/>
        <p:txBody>
          <a:bodyPr/>
          <a:lstStyle/>
          <a:p>
            <a:fld id="{B7342BA8-35C7-4B44-8BE1-9B2078E8C16E}" type="datetimeFigureOut">
              <a:rPr lang="en-US" smtClean="0"/>
              <a:t>09-Feb-25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21AF88D-F0EA-498A-A6A0-217938B08A2A}" type="slidenum">
              <a:rPr lang="en-US" smtClean="0"/>
              <a:t>‹#›</a:t>
            </a:fld>
            <a:endParaRPr lang="en-US"/>
          </a:p>
        </p:txBody>
      </p:sp>
      <p:cxnSp>
        <p:nvCxnSpPr>
          <p:cNvPr id="16" name="Straight Connector 15"/>
          <p:cNvCxnSpPr/>
          <p:nvPr/>
        </p:nvCxnSpPr>
        <p:spPr>
          <a:xfrm>
            <a:off x="1396169" y="2912533"/>
            <a:ext cx="35144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91201943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5399" y="1883832"/>
            <a:ext cx="6241816" cy="1371600"/>
          </a:xfrm>
        </p:spPr>
        <p:txBody>
          <a:bodyPr anchor="b">
            <a:normAutofit/>
          </a:bodyPr>
          <a:lstStyle>
            <a:lvl1pPr algn="ctr">
              <a:defRPr sz="2800" b="0"/>
            </a:lvl1pPr>
          </a:lstStyle>
          <a:p>
            <a:r>
              <a:rPr lang="en-US" smtClean="0"/>
              <a:t>Click to edit Master title style</a:t>
            </a:r>
            <a:endParaRPr lang="en-US" dirty="0"/>
          </a:p>
        </p:txBody>
      </p:sp>
      <p:sp>
        <p:nvSpPr>
          <p:cNvPr id="17" name="Picture Placeholder 2"/>
          <p:cNvSpPr>
            <a:spLocks noGrp="1" noChangeAspect="1"/>
          </p:cNvSpPr>
          <p:nvPr>
            <p:ph type="pic" idx="1"/>
          </p:nvPr>
        </p:nvSpPr>
        <p:spPr>
          <a:xfrm>
            <a:off x="8094831" y="1041400"/>
            <a:ext cx="3063347" cy="4775200"/>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1295399" y="3255432"/>
            <a:ext cx="6241816" cy="1828800"/>
          </a:xfrm>
        </p:spPr>
        <p:txBody>
          <a:bodyPr anchor="t">
            <a:normAutofit/>
          </a:bodyPr>
          <a:lstStyle>
            <a:lvl1pPr marL="0" indent="0" algn="ctr">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Date Placeholder 4"/>
          <p:cNvSpPr>
            <a:spLocks noGrp="1"/>
          </p:cNvSpPr>
          <p:nvPr>
            <p:ph type="dt" sz="half" idx="10"/>
          </p:nvPr>
        </p:nvSpPr>
        <p:spPr/>
        <p:txBody>
          <a:bodyPr/>
          <a:lstStyle/>
          <a:p>
            <a:fld id="{B7342BA8-35C7-4B44-8BE1-9B2078E8C16E}" type="datetimeFigureOut">
              <a:rPr lang="en-US" smtClean="0"/>
              <a:t>09-Feb-25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21AF88D-F0EA-498A-A6A0-217938B08A2A}" type="slidenum">
              <a:rPr lang="en-US" smtClean="0"/>
              <a:t>‹#›</a:t>
            </a:fld>
            <a:endParaRPr lang="en-US"/>
          </a:p>
        </p:txBody>
      </p:sp>
    </p:spTree>
    <p:extLst>
      <p:ext uri="{BB962C8B-B14F-4D97-AF65-F5344CB8AC3E}">
        <p14:creationId xmlns:p14="http://schemas.microsoft.com/office/powerpoint/2010/main" val="152896319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5401" y="4815415"/>
            <a:ext cx="9609666" cy="566738"/>
          </a:xfrm>
        </p:spPr>
        <p:txBody>
          <a:bodyPr anchor="b">
            <a:normAutofit/>
          </a:bodyPr>
          <a:lstStyle>
            <a:lvl1pPr algn="ctr">
              <a:defRPr sz="2400" b="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1041427" y="1041399"/>
            <a:ext cx="10105972" cy="3335869"/>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1295401" y="5382153"/>
            <a:ext cx="9609666" cy="493712"/>
          </a:xfrm>
        </p:spPr>
        <p:txBody>
          <a:bodyPr>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Date Placeholder 4"/>
          <p:cNvSpPr>
            <a:spLocks noGrp="1"/>
          </p:cNvSpPr>
          <p:nvPr>
            <p:ph type="dt" sz="half" idx="10"/>
          </p:nvPr>
        </p:nvSpPr>
        <p:spPr/>
        <p:txBody>
          <a:bodyPr/>
          <a:lstStyle/>
          <a:p>
            <a:fld id="{B7342BA8-35C7-4B44-8BE1-9B2078E8C16E}" type="datetimeFigureOut">
              <a:rPr lang="en-US" smtClean="0"/>
              <a:t>09-Feb-25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21AF88D-F0EA-498A-A6A0-217938B08A2A}" type="slidenum">
              <a:rPr lang="en-US" smtClean="0"/>
              <a:t>‹#›</a:t>
            </a:fld>
            <a:endParaRPr lang="en-US"/>
          </a:p>
        </p:txBody>
      </p:sp>
    </p:spTree>
    <p:extLst>
      <p:ext uri="{BB962C8B-B14F-4D97-AF65-F5344CB8AC3E}">
        <p14:creationId xmlns:p14="http://schemas.microsoft.com/office/powerpoint/2010/main" val="388786717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303868" y="982132"/>
            <a:ext cx="9592732" cy="2954868"/>
          </a:xfrm>
        </p:spPr>
        <p:txBody>
          <a:bodyPr anchor="ctr">
            <a:normAutofit/>
          </a:bodyPr>
          <a:lstStyle>
            <a:lvl1pPr algn="ctr">
              <a:defRPr sz="32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1303868" y="4343399"/>
            <a:ext cx="9592732"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B7342BA8-35C7-4B44-8BE1-9B2078E8C16E}" type="datetimeFigureOut">
              <a:rPr lang="en-US" smtClean="0"/>
              <a:t>09-Feb-25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21AF88D-F0EA-498A-A6A0-217938B08A2A}" type="slidenum">
              <a:rPr lang="en-US" smtClean="0"/>
              <a:t>‹#›</a:t>
            </a:fld>
            <a:endParaRPr lang="en-US"/>
          </a:p>
        </p:txBody>
      </p:sp>
      <p:cxnSp>
        <p:nvCxnSpPr>
          <p:cNvPr id="15" name="Straight Connector 14"/>
          <p:cNvCxnSpPr/>
          <p:nvPr/>
        </p:nvCxnSpPr>
        <p:spPr>
          <a:xfrm>
            <a:off x="1396169" y="4140199"/>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29875434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3" y="982132"/>
            <a:ext cx="9296398" cy="2370668"/>
          </a:xfrm>
        </p:spPr>
        <p:txBody>
          <a:bodyPr anchor="ctr">
            <a:normAutofit/>
          </a:bodyPr>
          <a:lstStyle>
            <a:lvl1pPr algn="ctr">
              <a:defRPr sz="3200" b="0" cap="none">
                <a:solidFill>
                  <a:schemeClr val="tx1"/>
                </a:solidFill>
              </a:defRPr>
            </a:lvl1pPr>
          </a:lstStyle>
          <a:p>
            <a:r>
              <a:rPr lang="en-US" smtClean="0"/>
              <a:t>Click to edit Master title style</a:t>
            </a:r>
            <a:endParaRPr lang="en-US" dirty="0"/>
          </a:p>
        </p:txBody>
      </p:sp>
      <p:sp>
        <p:nvSpPr>
          <p:cNvPr id="10" name="Text Placeholder 9"/>
          <p:cNvSpPr>
            <a:spLocks noGrp="1"/>
          </p:cNvSpPr>
          <p:nvPr>
            <p:ph type="body" sz="quarter" idx="13"/>
          </p:nvPr>
        </p:nvSpPr>
        <p:spPr>
          <a:xfrm>
            <a:off x="1674812" y="3352800"/>
            <a:ext cx="8839202" cy="584200"/>
          </a:xfrm>
        </p:spPr>
        <p:txBody>
          <a:bodyPr anchor="ctr">
            <a:normAutofit/>
          </a:bodyPr>
          <a:lstStyle>
            <a:lvl1pPr marL="0" indent="0" algn="r">
              <a:buFontTx/>
              <a:buNone/>
              <a:defRPr sz="20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Edit Master text styles</a:t>
            </a:r>
          </a:p>
        </p:txBody>
      </p:sp>
      <p:sp>
        <p:nvSpPr>
          <p:cNvPr id="3" name="Text Placeholder 2"/>
          <p:cNvSpPr>
            <a:spLocks noGrp="1"/>
          </p:cNvSpPr>
          <p:nvPr>
            <p:ph type="body" idx="1"/>
          </p:nvPr>
        </p:nvSpPr>
        <p:spPr>
          <a:xfrm>
            <a:off x="1295401" y="4343399"/>
            <a:ext cx="9609666"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B7342BA8-35C7-4B44-8BE1-9B2078E8C16E}" type="datetimeFigureOut">
              <a:rPr lang="en-US" smtClean="0"/>
              <a:t>09-Feb-25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21AF88D-F0EA-498A-A6A0-217938B08A2A}" type="slidenum">
              <a:rPr lang="en-US" smtClean="0"/>
              <a:t>‹#›</a:t>
            </a:fld>
            <a:endParaRPr lang="en-US"/>
          </a:p>
        </p:txBody>
      </p:sp>
      <p:sp>
        <p:nvSpPr>
          <p:cNvPr id="14" name="TextBox 13"/>
          <p:cNvSpPr txBox="1"/>
          <p:nvPr/>
        </p:nvSpPr>
        <p:spPr>
          <a:xfrm>
            <a:off x="862013" y="879961"/>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5" name="TextBox 14"/>
          <p:cNvSpPr txBox="1"/>
          <p:nvPr/>
        </p:nvSpPr>
        <p:spPr>
          <a:xfrm>
            <a:off x="10600267" y="2827870"/>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cxnSp>
        <p:nvCxnSpPr>
          <p:cNvPr id="19" name="Straight Connector 18"/>
          <p:cNvCxnSpPr/>
          <p:nvPr/>
        </p:nvCxnSpPr>
        <p:spPr>
          <a:xfrm>
            <a:off x="1396169" y="4140199"/>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4255974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295402" y="3308581"/>
            <a:ext cx="9609668" cy="1468800"/>
          </a:xfrm>
        </p:spPr>
        <p:txBody>
          <a:bodyPr anchor="b">
            <a:normAutofit/>
          </a:bodyPr>
          <a:lstStyle>
            <a:lvl1pPr algn="l">
              <a:defRPr sz="32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1295401" y="4777381"/>
            <a:ext cx="9609668" cy="860400"/>
          </a:xfrm>
        </p:spPr>
        <p:txBody>
          <a:bodyPr anchor="t">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B7342BA8-35C7-4B44-8BE1-9B2078E8C16E}" type="datetimeFigureOut">
              <a:rPr lang="en-US" smtClean="0"/>
              <a:t>09-Feb-25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21AF88D-F0EA-498A-A6A0-217938B08A2A}" type="slidenum">
              <a:rPr lang="en-US" smtClean="0"/>
              <a:t>‹#›</a:t>
            </a:fld>
            <a:endParaRPr lang="en-US"/>
          </a:p>
        </p:txBody>
      </p:sp>
    </p:spTree>
    <p:extLst>
      <p:ext uri="{BB962C8B-B14F-4D97-AF65-F5344CB8AC3E}">
        <p14:creationId xmlns:p14="http://schemas.microsoft.com/office/powerpoint/2010/main" val="65127953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1446213" y="982132"/>
            <a:ext cx="9296398" cy="2243668"/>
          </a:xfrm>
        </p:spPr>
        <p:txBody>
          <a:bodyPr anchor="ctr">
            <a:normAutofit/>
          </a:bodyPr>
          <a:lstStyle>
            <a:lvl1pPr algn="ctr">
              <a:defRPr sz="3200" b="0" cap="none">
                <a:solidFill>
                  <a:schemeClr val="tx1"/>
                </a:solidFill>
              </a:defRPr>
            </a:lvl1pPr>
          </a:lstStyle>
          <a:p>
            <a:r>
              <a:rPr lang="en-US" smtClean="0"/>
              <a:t>Click to edit Master title style</a:t>
            </a:r>
            <a:endParaRPr lang="en-US" dirty="0"/>
          </a:p>
        </p:txBody>
      </p:sp>
      <p:sp>
        <p:nvSpPr>
          <p:cNvPr id="23" name="Text Placeholder 2"/>
          <p:cNvSpPr>
            <a:spLocks noGrp="1"/>
          </p:cNvSpPr>
          <p:nvPr>
            <p:ph type="body" idx="13"/>
          </p:nvPr>
        </p:nvSpPr>
        <p:spPr>
          <a:xfrm>
            <a:off x="1295401" y="3639312"/>
            <a:ext cx="9609668" cy="886968"/>
          </a:xfrm>
        </p:spPr>
        <p:txBody>
          <a:bodyPr anchor="b">
            <a:normAutofit/>
          </a:bodyPr>
          <a:lstStyle>
            <a:lvl1pPr marL="0" indent="0" algn="l">
              <a:spcBef>
                <a:spcPts val="0"/>
              </a:spcBef>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3" name="Text Placeholder 2"/>
          <p:cNvSpPr>
            <a:spLocks noGrp="1"/>
          </p:cNvSpPr>
          <p:nvPr>
            <p:ph type="body" idx="1"/>
          </p:nvPr>
        </p:nvSpPr>
        <p:spPr>
          <a:xfrm>
            <a:off x="1295401" y="4529667"/>
            <a:ext cx="9609668" cy="13462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B7342BA8-35C7-4B44-8BE1-9B2078E8C16E}" type="datetimeFigureOut">
              <a:rPr lang="en-US" smtClean="0"/>
              <a:t>09-Feb-25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21AF88D-F0EA-498A-A6A0-217938B08A2A}" type="slidenum">
              <a:rPr lang="en-US" smtClean="0"/>
              <a:t>‹#›</a:t>
            </a:fld>
            <a:endParaRPr lang="en-US"/>
          </a:p>
        </p:txBody>
      </p:sp>
      <p:sp>
        <p:nvSpPr>
          <p:cNvPr id="12" name="TextBox 11"/>
          <p:cNvSpPr txBox="1"/>
          <p:nvPr/>
        </p:nvSpPr>
        <p:spPr>
          <a:xfrm>
            <a:off x="862013" y="879961"/>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3" name="TextBox 12"/>
          <p:cNvSpPr txBox="1"/>
          <p:nvPr/>
        </p:nvSpPr>
        <p:spPr>
          <a:xfrm>
            <a:off x="10600267" y="2599261"/>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cxnSp>
        <p:nvCxnSpPr>
          <p:cNvPr id="26" name="Straight Connector 25"/>
          <p:cNvCxnSpPr/>
          <p:nvPr/>
        </p:nvCxnSpPr>
        <p:spPr>
          <a:xfrm>
            <a:off x="1396169" y="3429000"/>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19949461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295401" y="982132"/>
            <a:ext cx="9609666" cy="2243668"/>
          </a:xfrm>
        </p:spPr>
        <p:txBody>
          <a:bodyPr vert="horz" lIns="91440" tIns="45720" rIns="91440" bIns="45720" rtlCol="0" anchor="ctr">
            <a:normAutofit/>
          </a:bodyPr>
          <a:lstStyle>
            <a:lvl1pPr>
              <a:defRPr lang="en-US" b="0" dirty="0"/>
            </a:lvl1pPr>
          </a:lstStyle>
          <a:p>
            <a:pPr marL="0" lvl="0"/>
            <a:r>
              <a:rPr lang="en-US" smtClean="0"/>
              <a:t>Click to edit Master title style</a:t>
            </a:r>
            <a:endParaRPr lang="en-US" dirty="0"/>
          </a:p>
        </p:txBody>
      </p:sp>
      <p:sp>
        <p:nvSpPr>
          <p:cNvPr id="20" name="Text Placeholder 2"/>
          <p:cNvSpPr>
            <a:spLocks noGrp="1"/>
          </p:cNvSpPr>
          <p:nvPr>
            <p:ph type="body" idx="13"/>
          </p:nvPr>
        </p:nvSpPr>
        <p:spPr>
          <a:xfrm>
            <a:off x="1295401" y="3630168"/>
            <a:ext cx="9609668" cy="841248"/>
          </a:xfrm>
        </p:spPr>
        <p:txBody>
          <a:bodyPr anchor="b">
            <a:normAutofit/>
          </a:bodyPr>
          <a:lstStyle>
            <a:lvl1pPr marL="0" indent="0" algn="l">
              <a:spcBef>
                <a:spcPts val="0"/>
              </a:spcBef>
              <a:buNone/>
              <a:defRPr sz="2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3" name="Text Placeholder 2"/>
          <p:cNvSpPr>
            <a:spLocks noGrp="1"/>
          </p:cNvSpPr>
          <p:nvPr>
            <p:ph type="body" idx="1"/>
          </p:nvPr>
        </p:nvSpPr>
        <p:spPr>
          <a:xfrm>
            <a:off x="1295400" y="4470399"/>
            <a:ext cx="9609670" cy="1405467"/>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B7342BA8-35C7-4B44-8BE1-9B2078E8C16E}" type="datetimeFigureOut">
              <a:rPr lang="en-US" smtClean="0"/>
              <a:t>09-Feb-25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21AF88D-F0EA-498A-A6A0-217938B08A2A}" type="slidenum">
              <a:rPr lang="en-US" smtClean="0"/>
              <a:t>‹#›</a:t>
            </a:fld>
            <a:endParaRPr lang="en-US"/>
          </a:p>
        </p:txBody>
      </p:sp>
      <p:cxnSp>
        <p:nvCxnSpPr>
          <p:cNvPr id="15" name="Straight Connector 14"/>
          <p:cNvCxnSpPr/>
          <p:nvPr/>
        </p:nvCxnSpPr>
        <p:spPr>
          <a:xfrm>
            <a:off x="1396169" y="3429000"/>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886103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B7342BA8-35C7-4B44-8BE1-9B2078E8C16E}" type="datetimeFigureOut">
              <a:rPr lang="en-US" smtClean="0"/>
              <a:t>09-Feb-25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21AF88D-F0EA-498A-A6A0-217938B08A2A}" type="slidenum">
              <a:rPr lang="en-US" smtClean="0"/>
              <a:t>‹#›</a:t>
            </a:fld>
            <a:endParaRPr lang="en-US"/>
          </a:p>
        </p:txBody>
      </p:sp>
      <p:cxnSp>
        <p:nvCxnSpPr>
          <p:cNvPr id="14" name="Straight Connector 13"/>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18580052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999356" y="982131"/>
            <a:ext cx="1890895" cy="4893735"/>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1295398" y="982132"/>
            <a:ext cx="7433025" cy="4893734"/>
          </a:xfrm>
        </p:spPr>
        <p:txBody>
          <a:bodyPr vert="eaVert" ancho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B7342BA8-35C7-4B44-8BE1-9B2078E8C16E}" type="datetimeFigureOut">
              <a:rPr lang="en-US" smtClean="0"/>
              <a:t>09-Feb-25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21AF88D-F0EA-498A-A6A0-217938B08A2A}" type="slidenum">
              <a:rPr lang="en-US" smtClean="0"/>
              <a:t>‹#›</a:t>
            </a:fld>
            <a:endParaRPr lang="en-US"/>
          </a:p>
        </p:txBody>
      </p:sp>
      <p:cxnSp>
        <p:nvCxnSpPr>
          <p:cNvPr id="14" name="Straight Connector 13"/>
          <p:cNvCxnSpPr/>
          <p:nvPr/>
        </p:nvCxnSpPr>
        <p:spPr>
          <a:xfrm>
            <a:off x="8863890" y="990600"/>
            <a:ext cx="0" cy="487680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29029380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4.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3.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grpSp>
        <p:nvGrpSpPr>
          <p:cNvPr id="7" name="Group 6"/>
          <p:cNvGrpSpPr/>
          <p:nvPr/>
        </p:nvGrpSpPr>
        <p:grpSpPr>
          <a:xfrm>
            <a:off x="-15736" y="0"/>
            <a:ext cx="12229962" cy="6856214"/>
            <a:chOff x="-15736" y="0"/>
            <a:chExt cx="12229962" cy="6856214"/>
          </a:xfrm>
        </p:grpSpPr>
        <p:pic>
          <p:nvPicPr>
            <p:cNvPr id="8" name="Picture 7" descr="HD-PanelContent.png"/>
            <p:cNvPicPr>
              <a:picLocks noChangeAspect="1"/>
            </p:cNvPicPr>
            <p:nvPr/>
          </p:nvPicPr>
          <p:blipFill>
            <a:blip r:embed="rId19">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9" name="Rectangle 8"/>
            <p:cNvSpPr/>
            <p:nvPr/>
          </p:nvSpPr>
          <p:spPr>
            <a:xfrm>
              <a:off x="608012" y="609600"/>
              <a:ext cx="10972800" cy="5638800"/>
            </a:xfrm>
            <a:prstGeom prst="rect">
              <a:avLst/>
            </a:prstGeom>
            <a:noFill/>
            <a:ln w="15875" cap="flat">
              <a:miter lim="800000"/>
            </a:ln>
          </p:spPr>
          <p:style>
            <a:lnRef idx="1">
              <a:schemeClr val="accent1"/>
            </a:lnRef>
            <a:fillRef idx="3">
              <a:schemeClr val="accent1"/>
            </a:fillRef>
            <a:effectRef idx="2">
              <a:schemeClr val="accent1"/>
            </a:effectRef>
            <a:fontRef idx="minor">
              <a:schemeClr val="lt1"/>
            </a:fontRef>
          </p:style>
        </p:sp>
        <p:pic>
          <p:nvPicPr>
            <p:cNvPr id="10" name="Picture 9" descr="HDRibbonContent-UniformTrim.png"/>
            <p:cNvPicPr>
              <a:picLocks noChangeAspect="1"/>
            </p:cNvPicPr>
            <p:nvPr/>
          </p:nvPicPr>
          <p:blipFill rotWithShape="1">
            <a:blip r:embed="rId20">
              <a:extLst>
                <a:ext uri="{28A0092B-C50C-407E-A947-70E740481C1C}">
                  <a14:useLocalDpi xmlns:a14="http://schemas.microsoft.com/office/drawing/2010/main" val="0"/>
                </a:ext>
              </a:extLst>
            </a:blip>
            <a:srcRect/>
            <a:stretch/>
          </p:blipFill>
          <p:spPr>
            <a:xfrm>
              <a:off x="-15736" y="3153832"/>
              <a:ext cx="777240" cy="606425"/>
            </a:xfrm>
            <a:prstGeom prst="rect">
              <a:avLst/>
            </a:prstGeom>
          </p:spPr>
        </p:pic>
        <p:pic>
          <p:nvPicPr>
            <p:cNvPr id="11" name="Picture 10" descr="HDRibbonContent-UniformTrim.png"/>
            <p:cNvPicPr>
              <a:picLocks noChangeAspect="1"/>
            </p:cNvPicPr>
            <p:nvPr/>
          </p:nvPicPr>
          <p:blipFill rotWithShape="1">
            <a:blip r:embed="rId20">
              <a:extLst>
                <a:ext uri="{28A0092B-C50C-407E-A947-70E740481C1C}">
                  <a14:useLocalDpi xmlns:a14="http://schemas.microsoft.com/office/drawing/2010/main" val="0"/>
                </a:ext>
              </a:extLst>
            </a:blip>
            <a:srcRect/>
            <a:stretch/>
          </p:blipFill>
          <p:spPr>
            <a:xfrm>
              <a:off x="11436986" y="3153832"/>
              <a:ext cx="777240" cy="606425"/>
            </a:xfrm>
            <a:prstGeom prst="rect">
              <a:avLst/>
            </a:prstGeom>
          </p:spPr>
        </p:pic>
      </p:grpSp>
      <p:sp>
        <p:nvSpPr>
          <p:cNvPr id="2" name="Title Placeholder 1"/>
          <p:cNvSpPr>
            <a:spLocks noGrp="1"/>
          </p:cNvSpPr>
          <p:nvPr>
            <p:ph type="title"/>
          </p:nvPr>
        </p:nvSpPr>
        <p:spPr>
          <a:xfrm>
            <a:off x="1295402" y="982132"/>
            <a:ext cx="9601196" cy="1303867"/>
          </a:xfrm>
          <a:prstGeom prst="rect">
            <a:avLst/>
          </a:prstGeom>
          <a:effectLst/>
        </p:spPr>
        <p:txBody>
          <a:bodyPr vert="horz" lIns="91440" tIns="45720" rIns="91440" bIns="45720" rtlCol="0" anchor="ctr">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1295401" y="2556932"/>
            <a:ext cx="9601196" cy="3318936"/>
          </a:xfrm>
          <a:prstGeom prst="rect">
            <a:avLst/>
          </a:prstGeom>
        </p:spPr>
        <p:txBody>
          <a:bodyPr vert="horz" lIns="91440" tIns="45720" rIns="91440" bIns="45720" rtlCol="0" anchor="t">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8677501" y="5969000"/>
            <a:ext cx="1600200"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B7342BA8-35C7-4B44-8BE1-9B2078E8C16E}" type="datetimeFigureOut">
              <a:rPr lang="en-US" smtClean="0"/>
              <a:t>09-Feb-25</a:t>
            </a:fld>
            <a:endParaRPr lang="en-US"/>
          </a:p>
        </p:txBody>
      </p:sp>
      <p:sp>
        <p:nvSpPr>
          <p:cNvPr id="5" name="Footer Placeholder 4"/>
          <p:cNvSpPr>
            <a:spLocks noGrp="1"/>
          </p:cNvSpPr>
          <p:nvPr>
            <p:ph type="ftr" sz="quarter" idx="3"/>
          </p:nvPr>
        </p:nvSpPr>
        <p:spPr>
          <a:xfrm>
            <a:off x="1295401" y="5969000"/>
            <a:ext cx="7305900" cy="279400"/>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US"/>
          </a:p>
        </p:txBody>
      </p:sp>
      <p:sp>
        <p:nvSpPr>
          <p:cNvPr id="6" name="Slide Number Placeholder 5"/>
          <p:cNvSpPr>
            <a:spLocks noGrp="1"/>
          </p:cNvSpPr>
          <p:nvPr>
            <p:ph type="sldNum" sz="quarter" idx="4"/>
          </p:nvPr>
        </p:nvSpPr>
        <p:spPr>
          <a:xfrm>
            <a:off x="10353901" y="5969000"/>
            <a:ext cx="542697"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421AF88D-F0EA-498A-A6A0-217938B08A2A}" type="slidenum">
              <a:rPr lang="en-US" smtClean="0"/>
              <a:t>‹#›</a:t>
            </a:fld>
            <a:endParaRPr lang="en-US"/>
          </a:p>
        </p:txBody>
      </p:sp>
    </p:spTree>
    <p:extLst>
      <p:ext uri="{BB962C8B-B14F-4D97-AF65-F5344CB8AC3E}">
        <p14:creationId xmlns:p14="http://schemas.microsoft.com/office/powerpoint/2010/main" val="1519472061"/>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xStyles>
    <p:title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accent1"/>
        </a:buClr>
        <a:buSzPct val="115000"/>
        <a:buFont typeface="Arial"/>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5C3B1F-D0A6-8385-E731-7D786424E11E}"/>
              </a:ext>
            </a:extLst>
          </p:cNvPr>
          <p:cNvSpPr>
            <a:spLocks noGrp="1"/>
          </p:cNvSpPr>
          <p:nvPr>
            <p:ph type="ctrTitle"/>
          </p:nvPr>
        </p:nvSpPr>
        <p:spPr/>
        <p:txBody>
          <a:bodyPr/>
          <a:lstStyle/>
          <a:p>
            <a:r>
              <a:rPr lang="en-US" dirty="0" smtClean="0"/>
              <a:t>READING SKILLS</a:t>
            </a:r>
            <a:endParaRPr lang="en-US" dirty="0"/>
          </a:p>
        </p:txBody>
      </p:sp>
      <p:sp>
        <p:nvSpPr>
          <p:cNvPr id="3" name="Subtitle 2">
            <a:extLst>
              <a:ext uri="{FF2B5EF4-FFF2-40B4-BE49-F238E27FC236}">
                <a16:creationId xmlns:a16="http://schemas.microsoft.com/office/drawing/2014/main" id="{B5B49C3C-6E02-71F9-F945-C3A547C36BFA}"/>
              </a:ext>
            </a:extLst>
          </p:cNvPr>
          <p:cNvSpPr>
            <a:spLocks noGrp="1"/>
          </p:cNvSpPr>
          <p:nvPr>
            <p:ph type="subTitle" idx="1"/>
          </p:nvPr>
        </p:nvSpPr>
        <p:spPr/>
        <p:txBody>
          <a:bodyPr>
            <a:normAutofit/>
          </a:bodyPr>
          <a:lstStyle/>
          <a:p>
            <a:endParaRPr lang="en-US" dirty="0"/>
          </a:p>
        </p:txBody>
      </p:sp>
    </p:spTree>
    <p:extLst>
      <p:ext uri="{BB962C8B-B14F-4D97-AF65-F5344CB8AC3E}">
        <p14:creationId xmlns:p14="http://schemas.microsoft.com/office/powerpoint/2010/main" val="372909769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151799-BD5E-A29C-8A9F-6D1A2B6B522F}"/>
              </a:ext>
            </a:extLst>
          </p:cNvPr>
          <p:cNvSpPr>
            <a:spLocks noGrp="1"/>
          </p:cNvSpPr>
          <p:nvPr>
            <p:ph type="title"/>
          </p:nvPr>
        </p:nvSpPr>
        <p:spPr/>
        <p:txBody>
          <a:bodyPr/>
          <a:lstStyle/>
          <a:p>
            <a:r>
              <a:rPr lang="en-US" dirty="0"/>
              <a:t>READING SKILLS</a:t>
            </a:r>
          </a:p>
        </p:txBody>
      </p:sp>
      <p:sp>
        <p:nvSpPr>
          <p:cNvPr id="3" name="Content Placeholder 2">
            <a:extLst>
              <a:ext uri="{FF2B5EF4-FFF2-40B4-BE49-F238E27FC236}">
                <a16:creationId xmlns:a16="http://schemas.microsoft.com/office/drawing/2014/main" id="{682C096E-D1B5-1AC8-90D7-F73FC436F2A7}"/>
              </a:ext>
            </a:extLst>
          </p:cNvPr>
          <p:cNvSpPr>
            <a:spLocks noGrp="1"/>
          </p:cNvSpPr>
          <p:nvPr>
            <p:ph idx="1"/>
          </p:nvPr>
        </p:nvSpPr>
        <p:spPr/>
        <p:txBody>
          <a:bodyPr>
            <a:normAutofit fontScale="92500"/>
          </a:bodyPr>
          <a:lstStyle/>
          <a:p>
            <a:r>
              <a:rPr lang="en-US" dirty="0"/>
              <a:t>A simple (and provisional) definition of </a:t>
            </a:r>
            <a:r>
              <a:rPr lang="en-US" b="1" dirty="0"/>
              <a:t>reading</a:t>
            </a:r>
            <a:r>
              <a:rPr lang="en-US" dirty="0"/>
              <a:t> is that it is a process whereby one looks at and understands what has been written.</a:t>
            </a:r>
          </a:p>
          <a:p>
            <a:r>
              <a:rPr lang="en-US" dirty="0"/>
              <a:t>Reading involves many sub skills for example: literal comprehension, inferential comprehension, interpretation, evaluation and critical appreciation. </a:t>
            </a:r>
          </a:p>
          <a:p>
            <a:r>
              <a:rPr lang="en-US" dirty="0" smtClean="0"/>
              <a:t>The process of reading has the following </a:t>
            </a:r>
            <a:r>
              <a:rPr lang="en-US" b="1" dirty="0" smtClean="0"/>
              <a:t>characteristics</a:t>
            </a:r>
            <a:r>
              <a:rPr lang="en-US" dirty="0" smtClean="0"/>
              <a:t>: </a:t>
            </a:r>
            <a:endParaRPr lang="en-US" dirty="0"/>
          </a:p>
          <a:p>
            <a:pPr marL="0" indent="0">
              <a:buNone/>
            </a:pPr>
            <a:r>
              <a:rPr lang="en-US" dirty="0"/>
              <a:t>1. It is both a physical and mental activity. </a:t>
            </a:r>
          </a:p>
          <a:p>
            <a:pPr marL="0" indent="0">
              <a:buNone/>
            </a:pPr>
            <a:r>
              <a:rPr lang="en-US" dirty="0"/>
              <a:t>2. It requires attention and thought. </a:t>
            </a:r>
          </a:p>
          <a:p>
            <a:pPr marL="0" indent="0">
              <a:buNone/>
            </a:pPr>
            <a:endParaRPr lang="en-US" dirty="0"/>
          </a:p>
        </p:txBody>
      </p:sp>
    </p:spTree>
    <p:extLst>
      <p:ext uri="{BB962C8B-B14F-4D97-AF65-F5344CB8AC3E}">
        <p14:creationId xmlns:p14="http://schemas.microsoft.com/office/powerpoint/2010/main" val="3017650605"/>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1A196F-B01C-A94C-AD9B-E54643122358}"/>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3280D048-8FEB-40DB-C2BF-AF375EC158CE}"/>
              </a:ext>
            </a:extLst>
          </p:cNvPr>
          <p:cNvSpPr>
            <a:spLocks noGrp="1"/>
          </p:cNvSpPr>
          <p:nvPr>
            <p:ph idx="1"/>
          </p:nvPr>
        </p:nvSpPr>
        <p:spPr/>
        <p:txBody>
          <a:bodyPr>
            <a:normAutofit fontScale="92500" lnSpcReduction="10000"/>
          </a:bodyPr>
          <a:lstStyle/>
          <a:p>
            <a:pPr marL="0" indent="0">
              <a:buNone/>
            </a:pPr>
            <a:r>
              <a:rPr lang="en-US" dirty="0"/>
              <a:t>3. It involves the participation of the reader emotionally and intellectually. </a:t>
            </a:r>
          </a:p>
          <a:p>
            <a:pPr marL="0" indent="0">
              <a:buNone/>
            </a:pPr>
            <a:r>
              <a:rPr lang="en-US" dirty="0"/>
              <a:t>4. It involves interpretation of the written (printed) symbols.</a:t>
            </a:r>
          </a:p>
          <a:p>
            <a:r>
              <a:rPr lang="en-US" dirty="0"/>
              <a:t>Different readers may interpret the same text differently. This implies that readers put meaning into what they read. </a:t>
            </a:r>
          </a:p>
          <a:p>
            <a:r>
              <a:rPr lang="en-US" dirty="0"/>
              <a:t>The meaning that a reader may put on a piece of writing is determined by several factors. </a:t>
            </a:r>
          </a:p>
          <a:p>
            <a:r>
              <a:rPr lang="en-US" dirty="0"/>
              <a:t>For example, the reader's background, knowledge or experience, emotional appeal of the subject or the reader's intellectual ability</a:t>
            </a:r>
          </a:p>
        </p:txBody>
      </p:sp>
    </p:spTree>
    <p:extLst>
      <p:ext uri="{BB962C8B-B14F-4D97-AF65-F5344CB8AC3E}">
        <p14:creationId xmlns:p14="http://schemas.microsoft.com/office/powerpoint/2010/main" val="4037521161"/>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DC327A-B4C8-E452-6D51-EEB5CE324E94}"/>
              </a:ext>
            </a:extLst>
          </p:cNvPr>
          <p:cNvSpPr>
            <a:spLocks noGrp="1"/>
          </p:cNvSpPr>
          <p:nvPr>
            <p:ph type="title"/>
          </p:nvPr>
        </p:nvSpPr>
        <p:spPr/>
        <p:txBody>
          <a:bodyPr/>
          <a:lstStyle/>
          <a:p>
            <a:r>
              <a:rPr lang="en-US" dirty="0"/>
              <a:t>APPROACHES TO READING </a:t>
            </a:r>
          </a:p>
        </p:txBody>
      </p:sp>
      <p:sp>
        <p:nvSpPr>
          <p:cNvPr id="3" name="Content Placeholder 2">
            <a:extLst>
              <a:ext uri="{FF2B5EF4-FFF2-40B4-BE49-F238E27FC236}">
                <a16:creationId xmlns:a16="http://schemas.microsoft.com/office/drawing/2014/main" id="{A84583DC-B076-EF65-8EDC-A97841C13794}"/>
              </a:ext>
            </a:extLst>
          </p:cNvPr>
          <p:cNvSpPr>
            <a:spLocks noGrp="1"/>
          </p:cNvSpPr>
          <p:nvPr>
            <p:ph idx="1"/>
          </p:nvPr>
        </p:nvSpPr>
        <p:spPr/>
        <p:txBody>
          <a:bodyPr>
            <a:normAutofit fontScale="92500" lnSpcReduction="10000"/>
          </a:bodyPr>
          <a:lstStyle/>
          <a:p>
            <a:pPr marL="514350" indent="-514350">
              <a:buAutoNum type="alphaUcParenR"/>
            </a:pPr>
            <a:r>
              <a:rPr lang="en-US" b="1" dirty="0"/>
              <a:t>Appreciative</a:t>
            </a:r>
            <a:r>
              <a:rPr lang="en-US" dirty="0"/>
              <a:t> </a:t>
            </a:r>
          </a:p>
          <a:p>
            <a:r>
              <a:rPr lang="en-US" dirty="0"/>
              <a:t>Reading for pleasure/entertainment</a:t>
            </a:r>
          </a:p>
          <a:p>
            <a:pPr marL="0" indent="0">
              <a:buNone/>
            </a:pPr>
            <a:r>
              <a:rPr lang="en-US" dirty="0"/>
              <a:t>B) </a:t>
            </a:r>
            <a:r>
              <a:rPr lang="en-US" b="1" dirty="0"/>
              <a:t>Comprehension</a:t>
            </a:r>
          </a:p>
          <a:p>
            <a:r>
              <a:rPr lang="en-US" dirty="0"/>
              <a:t>Acquiring knowledge and information: to be informed about the world you live in.</a:t>
            </a:r>
          </a:p>
          <a:p>
            <a:pPr marL="0" indent="0">
              <a:buNone/>
            </a:pPr>
            <a:r>
              <a:rPr lang="en-US" dirty="0"/>
              <a:t>C) </a:t>
            </a:r>
            <a:r>
              <a:rPr lang="en-US" b="1" dirty="0"/>
              <a:t>Critical Reading </a:t>
            </a:r>
          </a:p>
          <a:p>
            <a:r>
              <a:rPr lang="en-US" dirty="0"/>
              <a:t>Reading for academic purpose. Materials that can be read for academic information are: textbooks, reference books, general and specialist journals, magazines and special sections of newspapers.</a:t>
            </a:r>
          </a:p>
        </p:txBody>
      </p:sp>
    </p:spTree>
    <p:extLst>
      <p:ext uri="{BB962C8B-B14F-4D97-AF65-F5344CB8AC3E}">
        <p14:creationId xmlns:p14="http://schemas.microsoft.com/office/powerpoint/2010/main" val="4293791445"/>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568082-E38F-443D-2832-1ABF8578A324}"/>
              </a:ext>
            </a:extLst>
          </p:cNvPr>
          <p:cNvSpPr>
            <a:spLocks noGrp="1"/>
          </p:cNvSpPr>
          <p:nvPr>
            <p:ph type="title"/>
          </p:nvPr>
        </p:nvSpPr>
        <p:spPr/>
        <p:txBody>
          <a:bodyPr/>
          <a:lstStyle/>
          <a:p>
            <a:r>
              <a:rPr lang="en-US" dirty="0"/>
              <a:t>BASIC READING TECHNIQUES </a:t>
            </a:r>
          </a:p>
        </p:txBody>
      </p:sp>
      <p:sp>
        <p:nvSpPr>
          <p:cNvPr id="3" name="Content Placeholder 2">
            <a:extLst>
              <a:ext uri="{FF2B5EF4-FFF2-40B4-BE49-F238E27FC236}">
                <a16:creationId xmlns:a16="http://schemas.microsoft.com/office/drawing/2014/main" id="{54435078-D925-1F5A-53D5-CCA52073FF35}"/>
              </a:ext>
            </a:extLst>
          </p:cNvPr>
          <p:cNvSpPr>
            <a:spLocks noGrp="1"/>
          </p:cNvSpPr>
          <p:nvPr>
            <p:ph idx="1"/>
          </p:nvPr>
        </p:nvSpPr>
        <p:spPr/>
        <p:txBody>
          <a:bodyPr/>
          <a:lstStyle/>
          <a:p>
            <a:pPr marL="514350" indent="-514350">
              <a:buAutoNum type="alphaLcParenR"/>
            </a:pPr>
            <a:r>
              <a:rPr lang="en-US" b="1" dirty="0"/>
              <a:t>Surveying/Previewing </a:t>
            </a:r>
          </a:p>
          <a:p>
            <a:r>
              <a:rPr lang="en-US" dirty="0"/>
              <a:t>It is a pre-reading activity which involves reading to obtain a general idea of the contents, and predicting what will come next or how the text will develop</a:t>
            </a:r>
          </a:p>
          <a:p>
            <a:r>
              <a:rPr lang="en-US" dirty="0"/>
              <a:t>It helps the reader to predict in a very short time, what a reading text is all about and to determine its degree of relevance. </a:t>
            </a:r>
          </a:p>
          <a:p>
            <a:r>
              <a:rPr lang="en-US" dirty="0"/>
              <a:t>The reader can decide whether to read the book or not, or whether to read a part or parts of it and which part. </a:t>
            </a:r>
          </a:p>
        </p:txBody>
      </p:sp>
    </p:spTree>
    <p:extLst>
      <p:ext uri="{BB962C8B-B14F-4D97-AF65-F5344CB8AC3E}">
        <p14:creationId xmlns:p14="http://schemas.microsoft.com/office/powerpoint/2010/main" val="364647334"/>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06DBB1-3598-3920-188F-A472F97B6E5F}"/>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3DB384DB-C2E2-96E2-BEEE-518C0FA2B681}"/>
              </a:ext>
            </a:extLst>
          </p:cNvPr>
          <p:cNvSpPr>
            <a:spLocks noGrp="1"/>
          </p:cNvSpPr>
          <p:nvPr>
            <p:ph idx="1"/>
          </p:nvPr>
        </p:nvSpPr>
        <p:spPr/>
        <p:txBody>
          <a:bodyPr/>
          <a:lstStyle/>
          <a:p>
            <a:r>
              <a:rPr lang="en-US" dirty="0"/>
              <a:t>Previewing a text is done by looking at the following:</a:t>
            </a:r>
          </a:p>
          <a:p>
            <a:pPr marL="0" indent="0">
              <a:buNone/>
            </a:pPr>
            <a:r>
              <a:rPr lang="en-US" dirty="0"/>
              <a:t> </a:t>
            </a:r>
            <a:r>
              <a:rPr lang="en-US" dirty="0" err="1"/>
              <a:t>i</a:t>
            </a:r>
            <a:r>
              <a:rPr lang="en-US" dirty="0"/>
              <a:t>) Front matter: title, forward/preface or introduction, table of contents. </a:t>
            </a:r>
          </a:p>
          <a:p>
            <a:pPr marL="0" indent="0">
              <a:buNone/>
            </a:pPr>
            <a:r>
              <a:rPr lang="en-US" dirty="0"/>
              <a:t>ii) Back matter: blurbs, index, glossary, bibliography. </a:t>
            </a:r>
          </a:p>
          <a:p>
            <a:pPr marL="0" indent="0">
              <a:buNone/>
            </a:pPr>
            <a:r>
              <a:rPr lang="en-US" dirty="0"/>
              <a:t>iii) The book itself: Headings, subheadings, organizations, language, content, diagrams. </a:t>
            </a:r>
          </a:p>
        </p:txBody>
      </p:sp>
    </p:spTree>
    <p:extLst>
      <p:ext uri="{BB962C8B-B14F-4D97-AF65-F5344CB8AC3E}">
        <p14:creationId xmlns:p14="http://schemas.microsoft.com/office/powerpoint/2010/main" val="3438046284"/>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3B4223-B183-91AD-C0D6-280F05D6709C}"/>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66813512-B366-F4BE-475A-714C591F527B}"/>
              </a:ext>
            </a:extLst>
          </p:cNvPr>
          <p:cNvSpPr>
            <a:spLocks noGrp="1"/>
          </p:cNvSpPr>
          <p:nvPr>
            <p:ph idx="1"/>
          </p:nvPr>
        </p:nvSpPr>
        <p:spPr/>
        <p:txBody>
          <a:bodyPr>
            <a:normAutofit fontScale="92500"/>
          </a:bodyPr>
          <a:lstStyle/>
          <a:p>
            <a:pPr marL="0" indent="0">
              <a:buNone/>
            </a:pPr>
            <a:r>
              <a:rPr lang="en-US" dirty="0"/>
              <a:t>b) </a:t>
            </a:r>
            <a:r>
              <a:rPr lang="en-US" b="1" dirty="0"/>
              <a:t>Skimming </a:t>
            </a:r>
          </a:p>
          <a:p>
            <a:r>
              <a:rPr lang="en-US" dirty="0"/>
              <a:t>It is used when a reader wants to get the main idea or gist of a text within a very short time. </a:t>
            </a:r>
          </a:p>
          <a:p>
            <a:r>
              <a:rPr lang="en-US" dirty="0"/>
              <a:t>When skimming, you need to read the topic sentences only. </a:t>
            </a:r>
          </a:p>
          <a:p>
            <a:r>
              <a:rPr lang="en-US" dirty="0"/>
              <a:t>The topic sentence is usually the first in a paragraph and expresses the main idea. </a:t>
            </a:r>
          </a:p>
          <a:p>
            <a:r>
              <a:rPr lang="en-US" dirty="0"/>
              <a:t>But sometimes a writer may choose to make the second sentence of a paragraph the topic sentence.</a:t>
            </a:r>
          </a:p>
        </p:txBody>
      </p:sp>
    </p:spTree>
    <p:extLst>
      <p:ext uri="{BB962C8B-B14F-4D97-AF65-F5344CB8AC3E}">
        <p14:creationId xmlns:p14="http://schemas.microsoft.com/office/powerpoint/2010/main" val="51806974"/>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0109D6-5403-9AE3-1F88-E63916493758}"/>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2C3C5F3B-0F0E-FFFB-BD60-3BBC3D9A3D03}"/>
              </a:ext>
            </a:extLst>
          </p:cNvPr>
          <p:cNvSpPr>
            <a:spLocks noGrp="1"/>
          </p:cNvSpPr>
          <p:nvPr>
            <p:ph idx="1"/>
          </p:nvPr>
        </p:nvSpPr>
        <p:spPr/>
        <p:txBody>
          <a:bodyPr>
            <a:normAutofit fontScale="92500" lnSpcReduction="10000"/>
          </a:bodyPr>
          <a:lstStyle/>
          <a:p>
            <a:pPr marL="0" indent="0">
              <a:buNone/>
            </a:pPr>
            <a:r>
              <a:rPr lang="en-US" b="1" dirty="0"/>
              <a:t>c) Scanning.</a:t>
            </a:r>
          </a:p>
          <a:p>
            <a:r>
              <a:rPr lang="en-US" dirty="0"/>
              <a:t>It involves searching for particular items of information. </a:t>
            </a:r>
          </a:p>
          <a:p>
            <a:r>
              <a:rPr lang="en-US" dirty="0"/>
              <a:t>You are interested in these items only and not everything in the text.</a:t>
            </a:r>
          </a:p>
          <a:p>
            <a:pPr marL="0" indent="0">
              <a:buNone/>
            </a:pPr>
            <a:r>
              <a:rPr lang="en-US" b="1" dirty="0"/>
              <a:t>d) Word by word reading</a:t>
            </a:r>
          </a:p>
          <a:p>
            <a:r>
              <a:rPr lang="en-US" dirty="0"/>
              <a:t> This reading technique is used when one is learning how to read for the first time. </a:t>
            </a:r>
          </a:p>
          <a:p>
            <a:r>
              <a:rPr lang="en-US" dirty="0"/>
              <a:t>Word for word reading means trying to understand fully one word or phrase at a time. It is a slow reading technique. Scientists and mathematicians use it when they are studying processes and formulae.</a:t>
            </a:r>
          </a:p>
        </p:txBody>
      </p:sp>
    </p:spTree>
    <p:extLst>
      <p:ext uri="{BB962C8B-B14F-4D97-AF65-F5344CB8AC3E}">
        <p14:creationId xmlns:p14="http://schemas.microsoft.com/office/powerpoint/2010/main" val="2988504653"/>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7813F6-E3CC-1EEE-3A56-465B6BE6BEC0}"/>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24FFA860-D21C-E4C8-E3C5-EE269FEBD206}"/>
              </a:ext>
            </a:extLst>
          </p:cNvPr>
          <p:cNvSpPr>
            <a:spLocks noGrp="1"/>
          </p:cNvSpPr>
          <p:nvPr>
            <p:ph idx="1"/>
          </p:nvPr>
        </p:nvSpPr>
        <p:spPr/>
        <p:txBody>
          <a:bodyPr/>
          <a:lstStyle/>
          <a:p>
            <a:pPr marL="0" indent="0">
              <a:buNone/>
            </a:pPr>
            <a:r>
              <a:rPr lang="en-US" b="1" dirty="0"/>
              <a:t>d) Intensive reading</a:t>
            </a:r>
          </a:p>
          <a:p>
            <a:pPr marL="0" indent="0">
              <a:buNone/>
            </a:pPr>
            <a:r>
              <a:rPr lang="en-US" dirty="0"/>
              <a:t>Intensive reading entails content study of what is read in some detail and study of language in which the material is written. Intensive reading calls for a deep and thorough understanding of what is written.</a:t>
            </a:r>
          </a:p>
          <a:p>
            <a:pPr marL="0" indent="0">
              <a:buNone/>
            </a:pPr>
            <a:r>
              <a:rPr lang="en-US" dirty="0"/>
              <a:t>Intensive reading implies approaching a text under the guidance of a task (or a teacher) which forces the student to use analytical, critical and evaluative skills. It is the type of reading a university student engages in when studying</a:t>
            </a:r>
          </a:p>
        </p:txBody>
      </p:sp>
    </p:spTree>
    <p:extLst>
      <p:ext uri="{BB962C8B-B14F-4D97-AF65-F5344CB8AC3E}">
        <p14:creationId xmlns:p14="http://schemas.microsoft.com/office/powerpoint/2010/main" val="2859625700"/>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1BDB42-56ED-F369-0BDB-C07F99BD79BE}"/>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4064ECAD-A1C0-5F99-0B51-EA0BE0FDB5CB}"/>
              </a:ext>
            </a:extLst>
          </p:cNvPr>
          <p:cNvSpPr>
            <a:spLocks noGrp="1"/>
          </p:cNvSpPr>
          <p:nvPr>
            <p:ph idx="1"/>
          </p:nvPr>
        </p:nvSpPr>
        <p:spPr/>
        <p:txBody>
          <a:bodyPr>
            <a:normAutofit fontScale="92500" lnSpcReduction="20000"/>
          </a:bodyPr>
          <a:lstStyle/>
          <a:p>
            <a:r>
              <a:rPr lang="en-US" dirty="0"/>
              <a:t>To be an efficient intensive reader, you need to get rid of some bad reading habits:</a:t>
            </a:r>
          </a:p>
          <a:p>
            <a:pPr marL="0" indent="0">
              <a:buNone/>
            </a:pPr>
            <a:r>
              <a:rPr lang="en-US" dirty="0"/>
              <a:t> </a:t>
            </a:r>
            <a:r>
              <a:rPr lang="en-US" dirty="0" err="1"/>
              <a:t>i</a:t>
            </a:r>
            <a:r>
              <a:rPr lang="en-US" dirty="0"/>
              <a:t>) Trying to understand every word that you read by consulting the dictionary from time to time. Interferes with concentration. </a:t>
            </a:r>
          </a:p>
          <a:p>
            <a:pPr marL="0" indent="0">
              <a:buNone/>
            </a:pPr>
            <a:r>
              <a:rPr lang="en-US" dirty="0"/>
              <a:t>ii) Vocalization or moving lips as you read. This slows down reading to a speaking pace and is therefore inefficient.</a:t>
            </a:r>
          </a:p>
          <a:p>
            <a:pPr marL="0" indent="0">
              <a:buNone/>
            </a:pPr>
            <a:r>
              <a:rPr lang="en-US" dirty="0"/>
              <a:t> iii) Retrogression. This means reading forwards and backwards. It hinders comprehension unless you are doing word by word reading.</a:t>
            </a:r>
          </a:p>
          <a:p>
            <a:pPr marL="0" indent="0">
              <a:buNone/>
            </a:pPr>
            <a:r>
              <a:rPr lang="en-US" dirty="0"/>
              <a:t> iv) Pointing - using a finger, pencil or pen over what is being read or nodding the head. This is not only slow but also clumsy</a:t>
            </a:r>
          </a:p>
        </p:txBody>
      </p:sp>
    </p:spTree>
    <p:extLst>
      <p:ext uri="{BB962C8B-B14F-4D97-AF65-F5344CB8AC3E}">
        <p14:creationId xmlns:p14="http://schemas.microsoft.com/office/powerpoint/2010/main" val="3820472204"/>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marL="0" indent="0">
              <a:buNone/>
            </a:pPr>
            <a:r>
              <a:rPr lang="en-US" dirty="0"/>
              <a:t>The </a:t>
            </a:r>
            <a:r>
              <a:rPr lang="en-US" b="1" dirty="0"/>
              <a:t>SQ3R </a:t>
            </a:r>
            <a:r>
              <a:rPr lang="en-US" dirty="0"/>
              <a:t>reading method </a:t>
            </a:r>
          </a:p>
          <a:p>
            <a:r>
              <a:rPr lang="en-US" dirty="0"/>
              <a:t>The abbreviation SQ3R stands for the steps that one reader follows while using this method of reading. These </a:t>
            </a:r>
            <a:r>
              <a:rPr lang="en-US" dirty="0" smtClean="0"/>
              <a:t>are; </a:t>
            </a:r>
            <a:r>
              <a:rPr lang="en-US" b="1" dirty="0" smtClean="0"/>
              <a:t>S</a:t>
            </a:r>
            <a:r>
              <a:rPr lang="en-US" dirty="0" smtClean="0"/>
              <a:t>urvey, </a:t>
            </a:r>
            <a:r>
              <a:rPr lang="en-US" b="1" dirty="0" smtClean="0"/>
              <a:t>Q</a:t>
            </a:r>
            <a:r>
              <a:rPr lang="en-US" dirty="0" smtClean="0"/>
              <a:t>uestion, </a:t>
            </a:r>
            <a:r>
              <a:rPr lang="en-US" b="1" dirty="0" smtClean="0"/>
              <a:t>R</a:t>
            </a:r>
            <a:r>
              <a:rPr lang="en-US" dirty="0" smtClean="0"/>
              <a:t>ead, </a:t>
            </a:r>
            <a:r>
              <a:rPr lang="en-US" b="1" dirty="0" smtClean="0"/>
              <a:t>R</a:t>
            </a:r>
            <a:r>
              <a:rPr lang="en-US" dirty="0" smtClean="0"/>
              <a:t>evise and </a:t>
            </a:r>
            <a:r>
              <a:rPr lang="en-US" b="1" dirty="0" smtClean="0"/>
              <a:t>R</a:t>
            </a:r>
            <a:r>
              <a:rPr lang="en-US" dirty="0" smtClean="0"/>
              <a:t>ecite.</a:t>
            </a:r>
            <a:endParaRPr lang="en-US" dirty="0"/>
          </a:p>
          <a:p>
            <a:endParaRPr lang="en-US" dirty="0"/>
          </a:p>
        </p:txBody>
      </p:sp>
    </p:spTree>
    <p:extLst>
      <p:ext uri="{BB962C8B-B14F-4D97-AF65-F5344CB8AC3E}">
        <p14:creationId xmlns:p14="http://schemas.microsoft.com/office/powerpoint/2010/main" val="533415381"/>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289C15-FF0C-FA58-981E-044CF516D186}"/>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CC4F58CA-4C4B-6BB8-2E62-142ED02F33D0}"/>
              </a:ext>
            </a:extLst>
          </p:cNvPr>
          <p:cNvSpPr>
            <a:spLocks noGrp="1"/>
          </p:cNvSpPr>
          <p:nvPr>
            <p:ph idx="1"/>
          </p:nvPr>
        </p:nvSpPr>
        <p:spPr/>
        <p:txBody>
          <a:bodyPr>
            <a:normAutofit lnSpcReduction="10000"/>
          </a:bodyPr>
          <a:lstStyle/>
          <a:p>
            <a:pPr marL="571500" indent="-571500">
              <a:buAutoNum type="romanLcParenR"/>
            </a:pPr>
            <a:r>
              <a:rPr lang="en-US" dirty="0"/>
              <a:t>Survey</a:t>
            </a:r>
          </a:p>
          <a:p>
            <a:r>
              <a:rPr lang="en-US" dirty="0"/>
              <a:t> Glance over the titles or chapter headings to establish the subject of the text. </a:t>
            </a:r>
          </a:p>
          <a:p>
            <a:r>
              <a:rPr lang="en-US" dirty="0"/>
              <a:t>Read the whole of the first paragraph; in case of a passage.</a:t>
            </a:r>
          </a:p>
          <a:p>
            <a:r>
              <a:rPr lang="en-US" dirty="0"/>
              <a:t>Read the first sentence in each subsequent paragraph </a:t>
            </a:r>
          </a:p>
          <a:p>
            <a:r>
              <a:rPr lang="en-US" dirty="0"/>
              <a:t>Read the whole of the last paragraph </a:t>
            </a:r>
          </a:p>
          <a:p>
            <a:r>
              <a:rPr lang="en-US" dirty="0"/>
              <a:t>In case of a book, read chapter summaries or conclusions.</a:t>
            </a:r>
          </a:p>
          <a:p>
            <a:pPr marL="0" indent="0">
              <a:buNone/>
            </a:pPr>
            <a:endParaRPr lang="en-US" dirty="0"/>
          </a:p>
        </p:txBody>
      </p:sp>
    </p:spTree>
    <p:extLst>
      <p:ext uri="{BB962C8B-B14F-4D97-AF65-F5344CB8AC3E}">
        <p14:creationId xmlns:p14="http://schemas.microsoft.com/office/powerpoint/2010/main" val="1194285672"/>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676E11-56D0-4B74-9AC7-3DB4457EE5CE}"/>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F4DBBCF3-05CE-4F8E-4BCA-9F7CC8A750A1}"/>
              </a:ext>
            </a:extLst>
          </p:cNvPr>
          <p:cNvSpPr>
            <a:spLocks noGrp="1"/>
          </p:cNvSpPr>
          <p:nvPr>
            <p:ph idx="1"/>
          </p:nvPr>
        </p:nvSpPr>
        <p:spPr/>
        <p:txBody>
          <a:bodyPr>
            <a:normAutofit fontScale="85000" lnSpcReduction="10000"/>
          </a:bodyPr>
          <a:lstStyle/>
          <a:p>
            <a:pPr marL="0" indent="0">
              <a:buNone/>
            </a:pPr>
            <a:r>
              <a:rPr lang="en-US" dirty="0"/>
              <a:t>ii) Question </a:t>
            </a:r>
          </a:p>
          <a:p>
            <a:r>
              <a:rPr lang="en-US" dirty="0"/>
              <a:t>Turn the first heading into a question. This will arouse your curiosity and thereby increase your comprehension.</a:t>
            </a:r>
          </a:p>
          <a:p>
            <a:r>
              <a:rPr lang="en-US" dirty="0"/>
              <a:t>The question will also make important points stand out, at the same time, explanatory details will be </a:t>
            </a:r>
            <a:r>
              <a:rPr lang="en-US" dirty="0" err="1"/>
              <a:t>recognised</a:t>
            </a:r>
            <a:r>
              <a:rPr lang="en-US" dirty="0"/>
              <a:t>. </a:t>
            </a:r>
          </a:p>
          <a:p>
            <a:r>
              <a:rPr lang="en-US" dirty="0"/>
              <a:t>In case of passages or even some books, you could also look at the questions in the text. </a:t>
            </a:r>
          </a:p>
          <a:p>
            <a:pPr marL="0" indent="0">
              <a:buNone/>
            </a:pPr>
            <a:r>
              <a:rPr lang="en-US" dirty="0"/>
              <a:t>iii) Read </a:t>
            </a:r>
          </a:p>
          <a:p>
            <a:pPr marL="0" indent="0">
              <a:buNone/>
            </a:pPr>
            <a:r>
              <a:rPr lang="en-US" dirty="0"/>
              <a:t>Read the text to establish the subject matter, the writer’s approach and get the general gist. Try to obtain quick answers for the questions you raised in (ii) above. </a:t>
            </a:r>
          </a:p>
        </p:txBody>
      </p:sp>
    </p:spTree>
    <p:extLst>
      <p:ext uri="{BB962C8B-B14F-4D97-AF65-F5344CB8AC3E}">
        <p14:creationId xmlns:p14="http://schemas.microsoft.com/office/powerpoint/2010/main" val="1958704970"/>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9D4540-ADEC-2ADB-BD89-631204D663BE}"/>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804E35D1-F91C-9457-E90C-15D383A3B6FC}"/>
              </a:ext>
            </a:extLst>
          </p:cNvPr>
          <p:cNvSpPr>
            <a:spLocks noGrp="1"/>
          </p:cNvSpPr>
          <p:nvPr>
            <p:ph idx="1"/>
          </p:nvPr>
        </p:nvSpPr>
        <p:spPr/>
        <p:txBody>
          <a:bodyPr>
            <a:normAutofit fontScale="92500" lnSpcReduction="20000"/>
          </a:bodyPr>
          <a:lstStyle/>
          <a:p>
            <a:pPr marL="0" indent="0">
              <a:buNone/>
            </a:pPr>
            <a:r>
              <a:rPr lang="en-US" dirty="0"/>
              <a:t>iv) Revise </a:t>
            </a:r>
          </a:p>
          <a:p>
            <a:r>
              <a:rPr lang="en-US" dirty="0"/>
              <a:t>At this stage, you get into active reading and search for information and answers to specific questions. </a:t>
            </a:r>
          </a:p>
          <a:p>
            <a:r>
              <a:rPr lang="en-US" dirty="0"/>
              <a:t>You have to make notes. You should be guided by the topic sentences and the supporting evidence as well as the discourse markers (idea connectors). They will show you the trend of argument of the author.</a:t>
            </a:r>
          </a:p>
          <a:p>
            <a:pPr marL="0" indent="0">
              <a:buNone/>
            </a:pPr>
            <a:r>
              <a:rPr lang="en-US" dirty="0"/>
              <a:t>v) Recite </a:t>
            </a:r>
          </a:p>
          <a:p>
            <a:r>
              <a:rPr lang="en-US" dirty="0"/>
              <a:t>Having read and revised, now look away from the text and try to recall and recite the answers to the questions raised or thought about.</a:t>
            </a:r>
          </a:p>
        </p:txBody>
      </p:sp>
    </p:spTree>
    <p:extLst>
      <p:ext uri="{BB962C8B-B14F-4D97-AF65-F5344CB8AC3E}">
        <p14:creationId xmlns:p14="http://schemas.microsoft.com/office/powerpoint/2010/main" val="1634503577"/>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40A831-3C2C-7771-8963-A2F9FAAFF179}"/>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ED0257BD-DE50-D605-B8C4-842800998470}"/>
              </a:ext>
            </a:extLst>
          </p:cNvPr>
          <p:cNvSpPr>
            <a:spLocks noGrp="1"/>
          </p:cNvSpPr>
          <p:nvPr>
            <p:ph idx="1"/>
          </p:nvPr>
        </p:nvSpPr>
        <p:spPr/>
        <p:txBody>
          <a:bodyPr/>
          <a:lstStyle/>
          <a:p>
            <a:r>
              <a:rPr lang="en-US" dirty="0"/>
              <a:t>Use your own words and cite some examples </a:t>
            </a:r>
          </a:p>
          <a:p>
            <a:r>
              <a:rPr lang="en-US" dirty="0"/>
              <a:t>If you can recite, you know what is in the book; if you can't glance over the section again. </a:t>
            </a:r>
          </a:p>
          <a:p>
            <a:r>
              <a:rPr lang="en-US" dirty="0"/>
              <a:t>An excellent way to recite from memory is to write down brief notes or phrases in outline form, on a piece of paper. </a:t>
            </a:r>
          </a:p>
        </p:txBody>
      </p:sp>
    </p:spTree>
    <p:extLst>
      <p:ext uri="{BB962C8B-B14F-4D97-AF65-F5344CB8AC3E}">
        <p14:creationId xmlns:p14="http://schemas.microsoft.com/office/powerpoint/2010/main" val="251554305"/>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6CE1DC-2118-B8C4-1184-5BBFA1AC8075}"/>
              </a:ext>
            </a:extLst>
          </p:cNvPr>
          <p:cNvSpPr>
            <a:spLocks noGrp="1"/>
          </p:cNvSpPr>
          <p:nvPr>
            <p:ph type="title"/>
          </p:nvPr>
        </p:nvSpPr>
        <p:spPr/>
        <p:txBody>
          <a:bodyPr/>
          <a:lstStyle/>
          <a:p>
            <a:r>
              <a:rPr lang="en-US" dirty="0"/>
              <a:t>MURDER Reading Strategy</a:t>
            </a:r>
          </a:p>
        </p:txBody>
      </p:sp>
      <p:sp>
        <p:nvSpPr>
          <p:cNvPr id="3" name="Content Placeholder 2">
            <a:extLst>
              <a:ext uri="{FF2B5EF4-FFF2-40B4-BE49-F238E27FC236}">
                <a16:creationId xmlns:a16="http://schemas.microsoft.com/office/drawing/2014/main" id="{2CCC05DD-B026-4F08-D654-7E90335BFEC2}"/>
              </a:ext>
            </a:extLst>
          </p:cNvPr>
          <p:cNvSpPr>
            <a:spLocks noGrp="1"/>
          </p:cNvSpPr>
          <p:nvPr>
            <p:ph idx="1"/>
          </p:nvPr>
        </p:nvSpPr>
        <p:spPr/>
        <p:txBody>
          <a:bodyPr/>
          <a:lstStyle/>
          <a:p>
            <a:r>
              <a:rPr lang="en-US" dirty="0"/>
              <a:t>MURDER method was first introduced by </a:t>
            </a:r>
            <a:r>
              <a:rPr lang="en-US" dirty="0" err="1"/>
              <a:t>Danserau</a:t>
            </a:r>
            <a:r>
              <a:rPr lang="en-US" dirty="0"/>
              <a:t> et al. in 1979 (Hayes, 1981).</a:t>
            </a:r>
          </a:p>
          <a:p>
            <a:r>
              <a:rPr lang="en-US" dirty="0"/>
              <a:t>The acronym of MURDER itself is Mood, Understand, Recall, Detect, Elaborate and Review.</a:t>
            </a:r>
          </a:p>
          <a:p>
            <a:r>
              <a:rPr lang="en-US" dirty="0"/>
              <a:t>It is an alternative method which enables the students comprehend reading texts, particularly narrative texts, by collaboration working between two groups.</a:t>
            </a:r>
          </a:p>
        </p:txBody>
      </p:sp>
    </p:spTree>
    <p:extLst>
      <p:ext uri="{BB962C8B-B14F-4D97-AF65-F5344CB8AC3E}">
        <p14:creationId xmlns:p14="http://schemas.microsoft.com/office/powerpoint/2010/main" val="699278111"/>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0BEB6D-E214-33B1-0F3B-4AA4DA55F336}"/>
              </a:ext>
            </a:extLst>
          </p:cNvPr>
          <p:cNvSpPr>
            <a:spLocks noGrp="1"/>
          </p:cNvSpPr>
          <p:nvPr>
            <p:ph type="title"/>
          </p:nvPr>
        </p:nvSpPr>
        <p:spPr/>
        <p:txBody>
          <a:bodyPr/>
          <a:lstStyle/>
          <a:p>
            <a:r>
              <a:rPr lang="en-US" dirty="0"/>
              <a:t>Steps in MURDER  Strategy</a:t>
            </a:r>
          </a:p>
        </p:txBody>
      </p:sp>
      <p:sp>
        <p:nvSpPr>
          <p:cNvPr id="3" name="Content Placeholder 2">
            <a:extLst>
              <a:ext uri="{FF2B5EF4-FFF2-40B4-BE49-F238E27FC236}">
                <a16:creationId xmlns:a16="http://schemas.microsoft.com/office/drawing/2014/main" id="{AFC28D01-9DA2-C5CD-19C7-56223CB4D6FB}"/>
              </a:ext>
            </a:extLst>
          </p:cNvPr>
          <p:cNvSpPr>
            <a:spLocks noGrp="1"/>
          </p:cNvSpPr>
          <p:nvPr>
            <p:ph idx="1"/>
          </p:nvPr>
        </p:nvSpPr>
        <p:spPr/>
        <p:txBody>
          <a:bodyPr>
            <a:normAutofit fontScale="92500" lnSpcReduction="10000"/>
          </a:bodyPr>
          <a:lstStyle/>
          <a:p>
            <a:pPr marL="514350" indent="-514350">
              <a:buAutoNum type="alphaLcParenR"/>
            </a:pPr>
            <a:r>
              <a:rPr lang="en-US" dirty="0"/>
              <a:t>Mood</a:t>
            </a:r>
          </a:p>
          <a:p>
            <a:r>
              <a:rPr lang="en-US" dirty="0"/>
              <a:t>Teacher divides the students into two members/groups (recaller and detector). Each group sets a relaxed purposeful mood before beginning their work. </a:t>
            </a:r>
          </a:p>
          <a:p>
            <a:r>
              <a:rPr lang="en-US" dirty="0"/>
              <a:t>They make sure they are clear on the procedure to follow and to engage in a little chit-chat</a:t>
            </a:r>
          </a:p>
          <a:p>
            <a:pPr marL="0" indent="0">
              <a:buNone/>
            </a:pPr>
            <a:r>
              <a:rPr lang="en-US" dirty="0"/>
              <a:t>b) Understand: </a:t>
            </a:r>
          </a:p>
          <a:p>
            <a:r>
              <a:rPr lang="en-US" dirty="0"/>
              <a:t>Teacher divides the text into sections, each group should understand the first section by reading silently. </a:t>
            </a:r>
          </a:p>
        </p:txBody>
      </p:sp>
    </p:spTree>
    <p:extLst>
      <p:ext uri="{BB962C8B-B14F-4D97-AF65-F5344CB8AC3E}">
        <p14:creationId xmlns:p14="http://schemas.microsoft.com/office/powerpoint/2010/main" val="2609799622"/>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A28560-F6CA-260E-10F4-3C53E38EF3B6}"/>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5F5D470F-0B56-78D3-0EA8-1DD71CA6C84A}"/>
              </a:ext>
            </a:extLst>
          </p:cNvPr>
          <p:cNvSpPr>
            <a:spLocks noGrp="1"/>
          </p:cNvSpPr>
          <p:nvPr>
            <p:ph idx="1"/>
          </p:nvPr>
        </p:nvSpPr>
        <p:spPr/>
        <p:txBody>
          <a:bodyPr>
            <a:normAutofit fontScale="85000" lnSpcReduction="20000"/>
          </a:bodyPr>
          <a:lstStyle/>
          <a:p>
            <a:pPr marL="0" indent="0">
              <a:buNone/>
            </a:pPr>
            <a:r>
              <a:rPr lang="en-US" dirty="0"/>
              <a:t>c) Recall</a:t>
            </a:r>
          </a:p>
          <a:p>
            <a:r>
              <a:rPr lang="en-US" dirty="0"/>
              <a:t>The recaller group summarizes the main ideas without looking at the text.</a:t>
            </a:r>
          </a:p>
          <a:p>
            <a:pPr marL="0" indent="0">
              <a:buNone/>
            </a:pPr>
            <a:r>
              <a:rPr lang="en-US" dirty="0"/>
              <a:t>d) Detect</a:t>
            </a:r>
          </a:p>
          <a:p>
            <a:r>
              <a:rPr lang="en-US" dirty="0"/>
              <a:t>The detector group listens for the errors or omission in the recaller’s summary and discusses these with the recaller member. </a:t>
            </a:r>
          </a:p>
          <a:p>
            <a:r>
              <a:rPr lang="en-US" dirty="0"/>
              <a:t>The role of recaller and detector rotate for the next section.</a:t>
            </a:r>
          </a:p>
          <a:p>
            <a:pPr marL="0" indent="0">
              <a:buNone/>
            </a:pPr>
            <a:r>
              <a:rPr lang="en-US" dirty="0"/>
              <a:t> e) Elaborate </a:t>
            </a:r>
          </a:p>
          <a:p>
            <a:r>
              <a:rPr lang="en-US" dirty="0"/>
              <a:t>Both groups elaborate on the ideas in the section. The types of elaborations include the following:</a:t>
            </a:r>
          </a:p>
        </p:txBody>
      </p:sp>
    </p:spTree>
    <p:extLst>
      <p:ext uri="{BB962C8B-B14F-4D97-AF65-F5344CB8AC3E}">
        <p14:creationId xmlns:p14="http://schemas.microsoft.com/office/powerpoint/2010/main" val="3928250527"/>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FA20E6-76C7-5BAA-0CE8-7DE4CDA7620B}"/>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08CBA394-46DA-CD2B-7E01-A9C8D39E20F3}"/>
              </a:ext>
            </a:extLst>
          </p:cNvPr>
          <p:cNvSpPr>
            <a:spLocks noGrp="1"/>
          </p:cNvSpPr>
          <p:nvPr>
            <p:ph idx="1"/>
          </p:nvPr>
        </p:nvSpPr>
        <p:spPr/>
        <p:txBody>
          <a:bodyPr>
            <a:normAutofit fontScale="92500" lnSpcReduction="20000"/>
          </a:bodyPr>
          <a:lstStyle/>
          <a:p>
            <a:pPr marL="0" indent="0">
              <a:buNone/>
            </a:pPr>
            <a:r>
              <a:rPr lang="en-US" dirty="0"/>
              <a:t>1. Connections with other thing the students have studied </a:t>
            </a:r>
          </a:p>
          <a:p>
            <a:pPr marL="0" indent="0">
              <a:buNone/>
            </a:pPr>
            <a:r>
              <a:rPr lang="en-US" dirty="0"/>
              <a:t>2. Links between the section and students’ lives. </a:t>
            </a:r>
          </a:p>
          <a:p>
            <a:pPr marL="0" indent="0">
              <a:buNone/>
            </a:pPr>
            <a:r>
              <a:rPr lang="en-US" dirty="0"/>
              <a:t>3. Opinions with the view or ideas expressed the section.</a:t>
            </a:r>
          </a:p>
          <a:p>
            <a:pPr marL="0" indent="0">
              <a:buNone/>
            </a:pPr>
            <a:r>
              <a:rPr lang="en-US" dirty="0"/>
              <a:t>4. Reaction to the section such as gladness, anger, or sadness. </a:t>
            </a:r>
          </a:p>
          <a:p>
            <a:pPr marL="0" indent="0">
              <a:buNone/>
            </a:pPr>
            <a:r>
              <a:rPr lang="en-US" dirty="0"/>
              <a:t>5. Applications for the ideas and information. </a:t>
            </a:r>
          </a:p>
          <a:p>
            <a:pPr marL="0" indent="0">
              <a:buNone/>
            </a:pPr>
            <a:r>
              <a:rPr lang="en-US" dirty="0"/>
              <a:t>6. Questions either about things not understood or questions sparked by the section. </a:t>
            </a:r>
          </a:p>
          <a:p>
            <a:pPr marL="0" indent="0">
              <a:buNone/>
            </a:pPr>
            <a:r>
              <a:rPr lang="en-US" dirty="0"/>
              <a:t>The groups repeat the Understand, Recall, Detect and Elaborate step for all sections of the text. </a:t>
            </a:r>
          </a:p>
        </p:txBody>
      </p:sp>
    </p:spTree>
    <p:extLst>
      <p:ext uri="{BB962C8B-B14F-4D97-AF65-F5344CB8AC3E}">
        <p14:creationId xmlns:p14="http://schemas.microsoft.com/office/powerpoint/2010/main" val="3543968149"/>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4FF173-A409-F97E-7171-B9F0820208D3}"/>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DA8520EB-61B7-1E26-5BB5-2D4093FE0041}"/>
              </a:ext>
            </a:extLst>
          </p:cNvPr>
          <p:cNvSpPr>
            <a:spLocks noGrp="1"/>
          </p:cNvSpPr>
          <p:nvPr>
            <p:ph idx="1"/>
          </p:nvPr>
        </p:nvSpPr>
        <p:spPr/>
        <p:txBody>
          <a:bodyPr/>
          <a:lstStyle/>
          <a:p>
            <a:pPr marL="0" indent="0">
              <a:buNone/>
            </a:pPr>
            <a:r>
              <a:rPr lang="en-US" dirty="0"/>
              <a:t>f) Review</a:t>
            </a:r>
          </a:p>
          <a:p>
            <a:r>
              <a:rPr lang="en-US" dirty="0"/>
              <a:t>Both groups combine their thoughts to summarize the entire text after completing all the sections</a:t>
            </a:r>
          </a:p>
        </p:txBody>
      </p:sp>
    </p:spTree>
    <p:extLst>
      <p:ext uri="{BB962C8B-B14F-4D97-AF65-F5344CB8AC3E}">
        <p14:creationId xmlns:p14="http://schemas.microsoft.com/office/powerpoint/2010/main" val="3828025992"/>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77A340-F33D-98EB-0024-0380E2E2817C}"/>
              </a:ext>
            </a:extLst>
          </p:cNvPr>
          <p:cNvSpPr>
            <a:spLocks noGrp="1"/>
          </p:cNvSpPr>
          <p:nvPr>
            <p:ph type="title"/>
          </p:nvPr>
        </p:nvSpPr>
        <p:spPr/>
        <p:txBody>
          <a:bodyPr/>
          <a:lstStyle/>
          <a:p>
            <a:r>
              <a:rPr lang="en-US" dirty="0"/>
              <a:t>TEXT READABILITY</a:t>
            </a:r>
          </a:p>
        </p:txBody>
      </p:sp>
      <p:sp>
        <p:nvSpPr>
          <p:cNvPr id="3" name="Content Placeholder 2">
            <a:extLst>
              <a:ext uri="{FF2B5EF4-FFF2-40B4-BE49-F238E27FC236}">
                <a16:creationId xmlns:a16="http://schemas.microsoft.com/office/drawing/2014/main" id="{8F096E2F-7A0E-CC59-01E7-68179712FA9A}"/>
              </a:ext>
            </a:extLst>
          </p:cNvPr>
          <p:cNvSpPr>
            <a:spLocks noGrp="1"/>
          </p:cNvSpPr>
          <p:nvPr>
            <p:ph idx="1"/>
          </p:nvPr>
        </p:nvSpPr>
        <p:spPr/>
        <p:txBody>
          <a:bodyPr>
            <a:normAutofit fontScale="92500" lnSpcReduction="20000"/>
          </a:bodyPr>
          <a:lstStyle/>
          <a:p>
            <a:r>
              <a:rPr lang="en-US" dirty="0"/>
              <a:t>This is the extent to which it is possible to read a text and comprehend its content. </a:t>
            </a:r>
          </a:p>
          <a:p>
            <a:r>
              <a:rPr lang="en-US" dirty="0"/>
              <a:t>It refers to the relative simplicity or difficulty in understanding, interpreting, evaluating or applying the information in a text. </a:t>
            </a:r>
          </a:p>
          <a:p>
            <a:pPr marL="0" indent="0">
              <a:buNone/>
            </a:pPr>
            <a:r>
              <a:rPr lang="en-US" b="1" dirty="0"/>
              <a:t>Factors determining text readability</a:t>
            </a:r>
          </a:p>
          <a:p>
            <a:pPr marL="514350" indent="-514350">
              <a:buAutoNum type="alphaLcParenR"/>
            </a:pPr>
            <a:r>
              <a:rPr lang="en-US" dirty="0"/>
              <a:t>The language level.</a:t>
            </a:r>
          </a:p>
          <a:p>
            <a:r>
              <a:rPr lang="en-US" dirty="0"/>
              <a:t>This includes new words and other technical or scientific terms which one is not familiar with.</a:t>
            </a:r>
          </a:p>
          <a:p>
            <a:r>
              <a:rPr lang="en-US" dirty="0"/>
              <a:t>It may also refer to sentence structures, stylistic devices, register, idiomatic expressions used etc.</a:t>
            </a:r>
            <a:endParaRPr lang="en-US" b="1" dirty="0"/>
          </a:p>
        </p:txBody>
      </p:sp>
    </p:spTree>
    <p:extLst>
      <p:ext uri="{BB962C8B-B14F-4D97-AF65-F5344CB8AC3E}">
        <p14:creationId xmlns:p14="http://schemas.microsoft.com/office/powerpoint/2010/main" val="1890009061"/>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8B4E3A-CE78-497A-7ECA-8216D24C9BE6}"/>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B9571FA4-D885-070F-C127-4779B5F5C0FF}"/>
              </a:ext>
            </a:extLst>
          </p:cNvPr>
          <p:cNvSpPr>
            <a:spLocks noGrp="1"/>
          </p:cNvSpPr>
          <p:nvPr>
            <p:ph idx="1"/>
          </p:nvPr>
        </p:nvSpPr>
        <p:spPr/>
        <p:txBody>
          <a:bodyPr>
            <a:normAutofit fontScale="92500" lnSpcReduction="10000"/>
          </a:bodyPr>
          <a:lstStyle/>
          <a:p>
            <a:pPr marL="0" indent="0">
              <a:buNone/>
            </a:pPr>
            <a:r>
              <a:rPr lang="en-US" dirty="0"/>
              <a:t>b) Content</a:t>
            </a:r>
          </a:p>
          <a:p>
            <a:r>
              <a:rPr lang="en-US" dirty="0"/>
              <a:t>This refers to the subject matter. It could be elementary or advanced depending on the level of education of the reader.</a:t>
            </a:r>
          </a:p>
          <a:p>
            <a:pPr marL="0" indent="0">
              <a:buNone/>
            </a:pPr>
            <a:r>
              <a:rPr lang="en-US" dirty="0"/>
              <a:t>c) Layout </a:t>
            </a:r>
          </a:p>
          <a:p>
            <a:r>
              <a:rPr lang="en-US" dirty="0"/>
              <a:t>This is the arrangement or structure of the text in terms of chapters, units, paragraphs and even sentences. </a:t>
            </a:r>
          </a:p>
          <a:p>
            <a:r>
              <a:rPr lang="en-US" dirty="0"/>
              <a:t>The way a text is structured makes it possible to follow the trend of though of the writer.</a:t>
            </a:r>
          </a:p>
        </p:txBody>
      </p:sp>
    </p:spTree>
    <p:extLst>
      <p:ext uri="{BB962C8B-B14F-4D97-AF65-F5344CB8AC3E}">
        <p14:creationId xmlns:p14="http://schemas.microsoft.com/office/powerpoint/2010/main" val="2467628013"/>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2C1017-7AC2-107F-5690-16A75DA2BBFE}"/>
              </a:ext>
            </a:extLst>
          </p:cNvPr>
          <p:cNvSpPr>
            <a:spLocks noGrp="1"/>
          </p:cNvSpPr>
          <p:nvPr>
            <p:ph type="title"/>
          </p:nvPr>
        </p:nvSpPr>
        <p:spPr/>
        <p:txBody>
          <a:bodyPr/>
          <a:lstStyle/>
          <a:p>
            <a:r>
              <a:rPr lang="en-US" dirty="0"/>
              <a:t>Comprehending a Difficult Text</a:t>
            </a:r>
          </a:p>
        </p:txBody>
      </p:sp>
      <p:sp>
        <p:nvSpPr>
          <p:cNvPr id="3" name="Content Placeholder 2">
            <a:extLst>
              <a:ext uri="{FF2B5EF4-FFF2-40B4-BE49-F238E27FC236}">
                <a16:creationId xmlns:a16="http://schemas.microsoft.com/office/drawing/2014/main" id="{43C92C0C-5D2D-5BE8-18F0-14553CA2B77F}"/>
              </a:ext>
            </a:extLst>
          </p:cNvPr>
          <p:cNvSpPr>
            <a:spLocks noGrp="1"/>
          </p:cNvSpPr>
          <p:nvPr>
            <p:ph idx="1"/>
          </p:nvPr>
        </p:nvSpPr>
        <p:spPr/>
        <p:txBody>
          <a:bodyPr>
            <a:normAutofit fontScale="92500" lnSpcReduction="10000"/>
          </a:bodyPr>
          <a:lstStyle/>
          <a:p>
            <a:pPr marL="514350" indent="-514350">
              <a:buAutoNum type="alphaLcParenR"/>
            </a:pPr>
            <a:r>
              <a:rPr lang="en-US" dirty="0"/>
              <a:t>Vocabulary </a:t>
            </a:r>
          </a:p>
          <a:p>
            <a:r>
              <a:rPr lang="en-US" dirty="0"/>
              <a:t>One can understand new words, difficult terms, phrases or expressions without using a dictionary. </a:t>
            </a:r>
          </a:p>
          <a:p>
            <a:r>
              <a:rPr lang="en-US" dirty="0"/>
              <a:t>This can be done by: -looking at the context clues, getting synonyms, using predictions and using inference</a:t>
            </a:r>
          </a:p>
          <a:p>
            <a:pPr marL="0" indent="0">
              <a:buNone/>
            </a:pPr>
            <a:r>
              <a:rPr lang="en-US" dirty="0"/>
              <a:t> b) Predictions</a:t>
            </a:r>
          </a:p>
          <a:p>
            <a:r>
              <a:rPr lang="en-US" dirty="0"/>
              <a:t> This is when one reads to confirm expectations. This technique is highly motivating and gives one a purpose for reading. </a:t>
            </a:r>
          </a:p>
        </p:txBody>
      </p:sp>
    </p:spTree>
    <p:extLst>
      <p:ext uri="{BB962C8B-B14F-4D97-AF65-F5344CB8AC3E}">
        <p14:creationId xmlns:p14="http://schemas.microsoft.com/office/powerpoint/2010/main" val="4091654713"/>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E3976E-5B83-8494-8B41-F383E0F96CDD}"/>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EF709DC8-2696-3572-5B7C-5D5ED3B50581}"/>
              </a:ext>
            </a:extLst>
          </p:cNvPr>
          <p:cNvSpPr>
            <a:spLocks noGrp="1"/>
          </p:cNvSpPr>
          <p:nvPr>
            <p:ph idx="1"/>
          </p:nvPr>
        </p:nvSpPr>
        <p:spPr/>
        <p:txBody>
          <a:bodyPr>
            <a:normAutofit/>
          </a:bodyPr>
          <a:lstStyle/>
          <a:p>
            <a:pPr marL="0" indent="0">
              <a:buNone/>
            </a:pPr>
            <a:r>
              <a:rPr lang="en-US" dirty="0"/>
              <a:t>c) Inference/implications (“reading between the lines”) </a:t>
            </a:r>
          </a:p>
          <a:p>
            <a:r>
              <a:rPr lang="en-US" dirty="0"/>
              <a:t>This is 'reading' beyond what you can see in print, on pages. It calls for reasoning, reaching an opinion, making conclusions. </a:t>
            </a:r>
          </a:p>
          <a:p>
            <a:r>
              <a:rPr lang="en-US" dirty="0"/>
              <a:t>It is important when answering questions on meanings of words, phrases as used in the passage and also identification of the connotations of different sentences.</a:t>
            </a:r>
          </a:p>
          <a:p>
            <a:pPr marL="0" indent="0">
              <a:buNone/>
            </a:pPr>
            <a:r>
              <a:rPr lang="en-US" dirty="0"/>
              <a:t> </a:t>
            </a:r>
          </a:p>
        </p:txBody>
      </p:sp>
    </p:spTree>
    <p:extLst>
      <p:ext uri="{BB962C8B-B14F-4D97-AF65-F5344CB8AC3E}">
        <p14:creationId xmlns:p14="http://schemas.microsoft.com/office/powerpoint/2010/main" val="569144604"/>
      </p:ext>
    </p:extLst>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Organic">
  <a:themeElements>
    <a:clrScheme name="Organic">
      <a:dk1>
        <a:sysClr val="windowText" lastClr="000000"/>
      </a:dk1>
      <a:lt1>
        <a:sysClr val="window" lastClr="FFFFFF"/>
      </a:lt1>
      <a:dk2>
        <a:srgbClr val="212121"/>
      </a:dk2>
      <a:lt2>
        <a:srgbClr val="DADADA"/>
      </a:lt2>
      <a:accent1>
        <a:srgbClr val="83992A"/>
      </a:accent1>
      <a:accent2>
        <a:srgbClr val="3C9770"/>
      </a:accent2>
      <a:accent3>
        <a:srgbClr val="44709D"/>
      </a:accent3>
      <a:accent4>
        <a:srgbClr val="A23C33"/>
      </a:accent4>
      <a:accent5>
        <a:srgbClr val="D97828"/>
      </a:accent5>
      <a:accent6>
        <a:srgbClr val="DEB340"/>
      </a:accent6>
      <a:hlink>
        <a:srgbClr val="A8BF4D"/>
      </a:hlink>
      <a:folHlink>
        <a:srgbClr val="B4CA80"/>
      </a:folHlink>
    </a:clrScheme>
    <a:fontScheme name="Organic">
      <a:majorFont>
        <a:latin typeface="Garamond" panose="02020404030301010803"/>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Garamond" panose="02020404030301010803"/>
        <a:ea typeface=""/>
        <a:cs typeface=""/>
        <a:font script="Jpan" typeface="ＭＳ Ｐ明朝"/>
        <a:font script="Hang" typeface="바탕"/>
        <a:font script="Hans" typeface="方正舒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Organic">
      <a:fillStyleLst>
        <a:solidFill>
          <a:schemeClr val="phClr"/>
        </a:solidFill>
        <a:gradFill rotWithShape="1">
          <a:gsLst>
            <a:gs pos="0">
              <a:schemeClr val="phClr">
                <a:tint val="60000"/>
                <a:lumMod val="110000"/>
              </a:schemeClr>
            </a:gs>
            <a:gs pos="100000">
              <a:schemeClr val="phClr">
                <a:tint val="82000"/>
              </a:schemeClr>
            </a:gs>
          </a:gsLst>
          <a:lin ang="5400000" scaled="0"/>
        </a:gradFill>
        <a:blipFill>
          <a:blip xmlns:r="http://schemas.openxmlformats.org/officeDocument/2006/relationships" r:embed="rId1">
            <a:duotone>
              <a:schemeClr val="phClr">
                <a:shade val="74000"/>
                <a:satMod val="130000"/>
                <a:lumMod val="90000"/>
              </a:schemeClr>
              <a:schemeClr val="phClr">
                <a:tint val="94000"/>
                <a:satMod val="120000"/>
                <a:lumMod val="104000"/>
              </a:schemeClr>
            </a:duotone>
          </a:blip>
          <a:tile tx="0" ty="0" sx="100000" sy="100000" flip="none" algn="tl"/>
        </a:blipFill>
      </a:fillStyleLst>
      <a:lnStyleLst>
        <a:ln w="9525"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innerShdw blurRad="25400" dist="12700" dir="13500000">
              <a:srgbClr val="000000">
                <a:alpha val="45000"/>
              </a:srgbClr>
            </a:innerShdw>
          </a:effectLst>
        </a:effectStyle>
        <a:effectStyle>
          <a:effectLst>
            <a:outerShdw blurRad="38100" dist="25400" dir="5400000" rotWithShape="0">
              <a:srgbClr val="000000">
                <a:alpha val="60000"/>
              </a:srgbClr>
            </a:outerShdw>
          </a:effectLst>
        </a:effectStyle>
      </a:effectStyleLst>
      <a:bgFillStyleLst>
        <a:solidFill>
          <a:schemeClr val="phClr"/>
        </a:solidFill>
        <a:gradFill rotWithShape="1">
          <a:gsLst>
            <a:gs pos="0">
              <a:schemeClr val="phClr">
                <a:tint val="90000"/>
                <a:lumMod val="110000"/>
              </a:schemeClr>
            </a:gs>
            <a:gs pos="100000">
              <a:schemeClr val="phClr">
                <a:shade val="88000"/>
                <a:lumMod val="98000"/>
              </a:schemeClr>
            </a:gs>
          </a:gsLst>
          <a:lin ang="5400000" scaled="0"/>
        </a:gradFill>
        <a:blipFill>
          <a:blip xmlns:r="http://schemas.openxmlformats.org/officeDocument/2006/relationships" r:embed="rId2"/>
          <a:stretch/>
        </a:blipFill>
      </a:bgFillStyleLst>
    </a:fmtScheme>
  </a:themeElements>
  <a:objectDefaults/>
  <a:extraClrSchemeLst/>
  <a:extLst>
    <a:ext uri="{05A4C25C-085E-4340-85A3-A5531E510DB2}">
      <thm15:themeFamily xmlns:thm15="http://schemas.microsoft.com/office/thememl/2012/main" name="Organic" id="{28CDC826-8792-45C0-861B-85EB3ADEDA33}" vid="{7DAC20F1-423D-49E2-BD0B-50532748BAD0}"/>
    </a:ext>
  </a:extLst>
</a:theme>
</file>

<file path=docProps/app.xml><?xml version="1.0" encoding="utf-8"?>
<Properties xmlns="http://schemas.openxmlformats.org/officeDocument/2006/extended-properties" xmlns:vt="http://schemas.openxmlformats.org/officeDocument/2006/docPropsVTypes">
  <Template>Organic</Template>
  <TotalTime>1831</TotalTime>
  <Words>1674</Words>
  <Application>Microsoft Office PowerPoint</Application>
  <PresentationFormat>Widescreen</PresentationFormat>
  <Paragraphs>117</Paragraphs>
  <Slides>24</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24</vt:i4>
      </vt:variant>
    </vt:vector>
  </HeadingPairs>
  <TitlesOfParts>
    <vt:vector size="27" baseType="lpstr">
      <vt:lpstr>Arial</vt:lpstr>
      <vt:lpstr>Garamond</vt:lpstr>
      <vt:lpstr>Organic</vt:lpstr>
      <vt:lpstr>READING SKILLS</vt:lpstr>
      <vt:lpstr>READING SKILLS</vt:lpstr>
      <vt:lpstr>PowerPoint Presentation</vt:lpstr>
      <vt:lpstr>APPROACHES TO READING </vt:lpstr>
      <vt:lpstr>BASIC READING TECHNIQUES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MURDER Reading Strategy</vt:lpstr>
      <vt:lpstr>Steps in MURDER  Strategy</vt:lpstr>
      <vt:lpstr>PowerPoint Presentation</vt:lpstr>
      <vt:lpstr>PowerPoint Presentation</vt:lpstr>
      <vt:lpstr>PowerPoint Presentation</vt:lpstr>
      <vt:lpstr>TEXT READABILITY</vt:lpstr>
      <vt:lpstr>PowerPoint Presentation</vt:lpstr>
      <vt:lpstr>Comprehending a Difficult Text</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LANGUAGE AND COMMUNICATION SKILLS II</dc:title>
  <dc:creator>Yamikani Imbe</dc:creator>
  <cp:lastModifiedBy>Bridget Chimtali</cp:lastModifiedBy>
  <cp:revision>46</cp:revision>
  <dcterms:created xsi:type="dcterms:W3CDTF">2024-08-27T11:38:48Z</dcterms:created>
  <dcterms:modified xsi:type="dcterms:W3CDTF">2025-02-09T11:21:47Z</dcterms:modified>
</cp:coreProperties>
</file>