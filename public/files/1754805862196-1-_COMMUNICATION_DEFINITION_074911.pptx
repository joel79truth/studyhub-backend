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43"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EE03DAE5-CB26-4E04-A3DF-634A741309D4}"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3159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spTree>
    <p:extLst>
      <p:ext uri="{BB962C8B-B14F-4D97-AF65-F5344CB8AC3E}">
        <p14:creationId xmlns:p14="http://schemas.microsoft.com/office/powerpoint/2010/main" val="2563297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0251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F1AEB7-CEC5-49C3-8FE9-16852D0CD0DF}"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DAE5-CB26-4E04-A3DF-634A741309D4}" type="slidenum">
              <a:rPr lang="en-US" smtClean="0"/>
              <a:t>‹#›</a:t>
            </a:fld>
            <a:endParaRPr lang="en-US"/>
          </a:p>
        </p:txBody>
      </p:sp>
    </p:spTree>
    <p:extLst>
      <p:ext uri="{BB962C8B-B14F-4D97-AF65-F5344CB8AC3E}">
        <p14:creationId xmlns:p14="http://schemas.microsoft.com/office/powerpoint/2010/main" val="4041436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F1AEB7-CEC5-49C3-8FE9-16852D0CD0DF}"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03DAE5-CB26-4E04-A3DF-634A741309D4}"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4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F1AEB7-CEC5-49C3-8FE9-16852D0CD0DF}"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03DAE5-CB26-4E04-A3DF-634A741309D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0021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F1AEB7-CEC5-49C3-8FE9-16852D0CD0DF}"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03DAE5-CB26-4E04-A3DF-634A741309D4}" type="slidenum">
              <a:rPr lang="en-US" smtClean="0"/>
              <a:t>‹#›</a:t>
            </a:fld>
            <a:endParaRPr lang="en-US"/>
          </a:p>
        </p:txBody>
      </p:sp>
    </p:spTree>
    <p:extLst>
      <p:ext uri="{BB962C8B-B14F-4D97-AF65-F5344CB8AC3E}">
        <p14:creationId xmlns:p14="http://schemas.microsoft.com/office/powerpoint/2010/main" val="1534885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F1AEB7-CEC5-49C3-8FE9-16852D0CD0DF}"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DAE5-CB26-4E04-A3DF-634A741309D4}"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7557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F1AEB7-CEC5-49C3-8FE9-16852D0CD0DF}"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DAE5-CB26-4E04-A3DF-634A741309D4}" type="slidenum">
              <a:rPr lang="en-US" smtClean="0"/>
              <a:t>‹#›</a:t>
            </a:fld>
            <a:endParaRPr lang="en-US"/>
          </a:p>
        </p:txBody>
      </p:sp>
    </p:spTree>
    <p:extLst>
      <p:ext uri="{BB962C8B-B14F-4D97-AF65-F5344CB8AC3E}">
        <p14:creationId xmlns:p14="http://schemas.microsoft.com/office/powerpoint/2010/main" val="1192851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F1AEB7-CEC5-49C3-8FE9-16852D0CD0DF}"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DAE5-CB26-4E04-A3DF-634A741309D4}" type="slidenum">
              <a:rPr lang="en-US" smtClean="0"/>
              <a:t>‹#›</a:t>
            </a:fld>
            <a:endParaRPr lang="en-US"/>
          </a:p>
        </p:txBody>
      </p:sp>
    </p:spTree>
    <p:extLst>
      <p:ext uri="{BB962C8B-B14F-4D97-AF65-F5344CB8AC3E}">
        <p14:creationId xmlns:p14="http://schemas.microsoft.com/office/powerpoint/2010/main" val="2539064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8548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40555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spTree>
    <p:extLst>
      <p:ext uri="{BB962C8B-B14F-4D97-AF65-F5344CB8AC3E}">
        <p14:creationId xmlns:p14="http://schemas.microsoft.com/office/powerpoint/2010/main" val="386086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2089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458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1023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F1AEB7-CEC5-49C3-8FE9-16852D0CD0DF}"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DAE5-CB26-4E04-A3DF-634A741309D4}"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330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8F1AEB7-CEC5-49C3-8FE9-16852D0CD0DF}" type="datetimeFigureOut">
              <a:rPr lang="en-US" smtClean="0"/>
              <a:t>11/11/2024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E03DAE5-CB26-4E04-A3DF-634A741309D4}" type="slidenum">
              <a:rPr lang="en-US" smtClean="0"/>
              <a:t>‹#›</a:t>
            </a:fld>
            <a:endParaRPr lang="en-US"/>
          </a:p>
        </p:txBody>
      </p:sp>
    </p:spTree>
    <p:extLst>
      <p:ext uri="{BB962C8B-B14F-4D97-AF65-F5344CB8AC3E}">
        <p14:creationId xmlns:p14="http://schemas.microsoft.com/office/powerpoint/2010/main" val="8778207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LANGUAGE AND COMMUNICATION SKILLS</a:t>
            </a:r>
            <a:br>
              <a:rPr lang="en-US" dirty="0" smtClean="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906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18D6-176E-0291-A7A3-59C3EE7C3655}"/>
              </a:ext>
            </a:extLst>
          </p:cNvPr>
          <p:cNvSpPr>
            <a:spLocks noGrp="1"/>
          </p:cNvSpPr>
          <p:nvPr>
            <p:ph type="title"/>
          </p:nvPr>
        </p:nvSpPr>
        <p:spPr/>
        <p:txBody>
          <a:bodyPr/>
          <a:lstStyle/>
          <a:p>
            <a:r>
              <a:rPr lang="en-US" b="1" dirty="0"/>
              <a:t>What is Communication?</a:t>
            </a:r>
          </a:p>
        </p:txBody>
      </p:sp>
      <p:sp>
        <p:nvSpPr>
          <p:cNvPr id="3" name="Content Placeholder 2">
            <a:extLst>
              <a:ext uri="{FF2B5EF4-FFF2-40B4-BE49-F238E27FC236}">
                <a16:creationId xmlns:a16="http://schemas.microsoft.com/office/drawing/2014/main" id="{393620F5-0511-FD7B-22AC-2741F345C9ED}"/>
              </a:ext>
            </a:extLst>
          </p:cNvPr>
          <p:cNvSpPr>
            <a:spLocks noGrp="1"/>
          </p:cNvSpPr>
          <p:nvPr>
            <p:ph idx="1"/>
          </p:nvPr>
        </p:nvSpPr>
        <p:spPr/>
        <p:txBody>
          <a:bodyPr>
            <a:normAutofit fontScale="92500" lnSpcReduction="20000"/>
          </a:bodyPr>
          <a:lstStyle/>
          <a:p>
            <a:pPr marR="0" lvl="0" algn="just">
              <a:lnSpc>
                <a:spcPct val="115000"/>
              </a:lnSpc>
              <a:spcBef>
                <a:spcPts val="0"/>
              </a:spcBef>
              <a:spcAft>
                <a:spcPts val="1000"/>
              </a:spcAft>
              <a:buFont typeface="Wingdings" panose="05000000000000000000" pitchFamily="2" charset="2"/>
              <a:buChar char="q"/>
              <a:tabLst>
                <a:tab pos="457200" algn="l"/>
              </a:tabLst>
            </a:pPr>
            <a:r>
              <a:rPr lang="en-GB" sz="2800" dirty="0">
                <a:effectLst/>
                <a:ea typeface="Calibri" panose="020F0502020204030204" pitchFamily="34" charset="0"/>
                <a:cs typeface="Times New Roman" panose="02020603050405020304" pitchFamily="18" charset="0"/>
              </a:rPr>
              <a:t>Communication is the transmission of information, ideas and feelings in people with an aim of informing, influencing and initiating action (Chikoti 2008:1)</a:t>
            </a:r>
            <a:endParaRPr lang="en-US" sz="2800" dirty="0">
              <a:effectLst/>
              <a:ea typeface="Calibri" panose="020F0502020204030204" pitchFamily="34" charset="0"/>
              <a:cs typeface="Times New Roman" panose="02020603050405020304" pitchFamily="18" charset="0"/>
            </a:endParaRPr>
          </a:p>
          <a:p>
            <a:pPr marR="0" lvl="0" algn="just">
              <a:lnSpc>
                <a:spcPct val="115000"/>
              </a:lnSpc>
              <a:spcBef>
                <a:spcPts val="0"/>
              </a:spcBef>
              <a:spcAft>
                <a:spcPts val="1000"/>
              </a:spcAft>
              <a:buFont typeface="Wingdings" panose="05000000000000000000" pitchFamily="2" charset="2"/>
              <a:buChar char="q"/>
              <a:tabLst>
                <a:tab pos="457200" algn="l"/>
              </a:tabLst>
            </a:pPr>
            <a:r>
              <a:rPr lang="en-US" sz="2800" dirty="0">
                <a:effectLst/>
                <a:ea typeface="Calibri" panose="020F0502020204030204" pitchFamily="34" charset="0"/>
                <a:cs typeface="Times New Roman" panose="02020603050405020304" pitchFamily="18" charset="0"/>
              </a:rPr>
              <a:t>According to Adams and </a:t>
            </a:r>
            <a:r>
              <a:rPr lang="en-US" sz="2800" dirty="0" err="1">
                <a:effectLst/>
                <a:ea typeface="Calibri" panose="020F0502020204030204" pitchFamily="34" charset="0"/>
                <a:cs typeface="Times New Roman" panose="02020603050405020304" pitchFamily="18" charset="0"/>
              </a:rPr>
              <a:t>Galanes</a:t>
            </a:r>
            <a:r>
              <a:rPr lang="en-US" sz="2800" dirty="0">
                <a:effectLst/>
                <a:ea typeface="Calibri" panose="020F0502020204030204" pitchFamily="34" charset="0"/>
                <a:cs typeface="Times New Roman" panose="02020603050405020304" pitchFamily="18" charset="0"/>
              </a:rPr>
              <a:t> (2000) communication refers to perception, interpretation, and response of people to signals produced by other people.</a:t>
            </a:r>
          </a:p>
          <a:p>
            <a:pPr marR="0" lvl="0" algn="just">
              <a:lnSpc>
                <a:spcPct val="115000"/>
              </a:lnSpc>
              <a:spcBef>
                <a:spcPts val="0"/>
              </a:spcBef>
              <a:spcAft>
                <a:spcPts val="1000"/>
              </a:spcAft>
              <a:buFont typeface="Wingdings" panose="05000000000000000000" pitchFamily="2" charset="2"/>
              <a:buChar char="q"/>
              <a:tabLst>
                <a:tab pos="457200" algn="l"/>
              </a:tabLst>
            </a:pPr>
            <a:r>
              <a:rPr lang="en-GB" dirty="0">
                <a:ea typeface="Calibri" panose="020F0502020204030204" pitchFamily="34" charset="0"/>
              </a:rPr>
              <a:t>Communication is considered effective if the message sent has been understood by the receiver.</a:t>
            </a:r>
            <a:endParaRPr lang="en-US" dirty="0"/>
          </a:p>
        </p:txBody>
      </p:sp>
    </p:spTree>
    <p:extLst>
      <p:ext uri="{BB962C8B-B14F-4D97-AF65-F5344CB8AC3E}">
        <p14:creationId xmlns:p14="http://schemas.microsoft.com/office/powerpoint/2010/main" val="2380193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7071B-9B3A-E62D-A76B-51D9803708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D15BAE-3A09-7810-4450-5FA394232A76}"/>
              </a:ext>
            </a:extLst>
          </p:cNvPr>
          <p:cNvSpPr>
            <a:spLocks noGrp="1"/>
          </p:cNvSpPr>
          <p:nvPr>
            <p:ph idx="1"/>
          </p:nvPr>
        </p:nvSpPr>
        <p:spPr/>
        <p:txBody>
          <a:bodyPr/>
          <a:lstStyle/>
          <a:p>
            <a:r>
              <a:rPr lang="en-US" dirty="0">
                <a:ea typeface="Calibri" panose="020F0502020204030204" pitchFamily="34" charset="0"/>
              </a:rPr>
              <a:t>T</a:t>
            </a:r>
            <a:r>
              <a:rPr lang="en-US" dirty="0">
                <a:effectLst/>
                <a:ea typeface="Calibri" panose="020F0502020204030204" pitchFamily="34" charset="0"/>
              </a:rPr>
              <a:t>hese definitions share some commonalities that; 1) there should be the sender, 2) the message itself, 3) the receiver and 4) an aspect of the message being transferred.</a:t>
            </a:r>
          </a:p>
          <a:p>
            <a:r>
              <a:rPr lang="en-US" dirty="0"/>
              <a:t>As such, communication can be simply defined as “</a:t>
            </a:r>
            <a:r>
              <a:rPr lang="en-US" b="1" i="1" dirty="0">
                <a:effectLst/>
                <a:ea typeface="Calibri" panose="020F0502020204030204" pitchFamily="34" charset="0"/>
              </a:rPr>
              <a:t>the exchange or transfer of information from a source (sender) to the receiver in which the receiver understands the message that was sent by the sender. </a:t>
            </a:r>
            <a:r>
              <a:rPr lang="en-US" b="1" dirty="0">
                <a:effectLst/>
                <a:ea typeface="Calibri" panose="020F0502020204030204" pitchFamily="34" charset="0"/>
              </a:rPr>
              <a:t>[If the message is not understood then there is no communication</a:t>
            </a:r>
            <a:r>
              <a:rPr lang="en-GB" b="1" dirty="0">
                <a:effectLst/>
                <a:ea typeface="Calibri" panose="020F0502020204030204" pitchFamily="34" charset="0"/>
              </a:rPr>
              <a:t>.]” </a:t>
            </a:r>
          </a:p>
          <a:p>
            <a:pPr marL="0" indent="0">
              <a:buNone/>
            </a:pPr>
            <a:endParaRPr lang="en-US" dirty="0"/>
          </a:p>
          <a:p>
            <a:endParaRPr lang="en-US" dirty="0"/>
          </a:p>
        </p:txBody>
      </p:sp>
    </p:spTree>
    <p:extLst>
      <p:ext uri="{BB962C8B-B14F-4D97-AF65-F5344CB8AC3E}">
        <p14:creationId xmlns:p14="http://schemas.microsoft.com/office/powerpoint/2010/main" val="318983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F0868-D94B-F54C-E285-C79C77EA8AF7}"/>
              </a:ext>
            </a:extLst>
          </p:cNvPr>
          <p:cNvSpPr>
            <a:spLocks noGrp="1"/>
          </p:cNvSpPr>
          <p:nvPr>
            <p:ph type="title"/>
          </p:nvPr>
        </p:nvSpPr>
        <p:spPr/>
        <p:txBody>
          <a:bodyPr/>
          <a:lstStyle/>
          <a:p>
            <a:r>
              <a:rPr lang="en-US" dirty="0"/>
              <a:t>ELEMENTS OF COMMUNICATION</a:t>
            </a:r>
          </a:p>
        </p:txBody>
      </p:sp>
      <p:sp>
        <p:nvSpPr>
          <p:cNvPr id="3" name="Content Placeholder 2">
            <a:extLst>
              <a:ext uri="{FF2B5EF4-FFF2-40B4-BE49-F238E27FC236}">
                <a16:creationId xmlns:a16="http://schemas.microsoft.com/office/drawing/2014/main" id="{1B144FD6-A716-6308-0509-2527E6471B44}"/>
              </a:ext>
            </a:extLst>
          </p:cNvPr>
          <p:cNvSpPr>
            <a:spLocks noGrp="1"/>
          </p:cNvSpPr>
          <p:nvPr>
            <p:ph idx="1"/>
          </p:nvPr>
        </p:nvSpPr>
        <p:spPr/>
        <p:txBody>
          <a:bodyPr>
            <a:normAutofit fontScale="92500" lnSpcReduction="20000"/>
          </a:bodyPr>
          <a:lstStyle/>
          <a:p>
            <a:pPr marL="514350" indent="-514350">
              <a:buFont typeface="+mj-lt"/>
              <a:buAutoNum type="alphaLcParenR"/>
            </a:pPr>
            <a:r>
              <a:rPr lang="en-US" b="1" dirty="0"/>
              <a:t>Sender</a:t>
            </a:r>
          </a:p>
          <a:p>
            <a:r>
              <a:rPr lang="en-ZA" dirty="0">
                <a:effectLst/>
                <a:ea typeface="Calibri" panose="020F0502020204030204" pitchFamily="34" charset="0"/>
                <a:cs typeface="Times New Roman" panose="02020603050405020304" pitchFamily="18" charset="0"/>
              </a:rPr>
              <a:t>This is the source of the message. The sender must have the will/impulse to communicate for him/her to initiate the communication process. </a:t>
            </a:r>
          </a:p>
          <a:p>
            <a:r>
              <a:rPr lang="en-ZA" dirty="0">
                <a:effectLst/>
                <a:ea typeface="Calibri" panose="020F0502020204030204" pitchFamily="34" charset="0"/>
                <a:cs typeface="Times New Roman" panose="02020603050405020304" pitchFamily="18" charset="0"/>
              </a:rPr>
              <a:t>The sender must be motivated or stirred up either internally or externally before they send the message.  </a:t>
            </a:r>
          </a:p>
          <a:p>
            <a:pPr marL="0" indent="0">
              <a:buNone/>
            </a:pPr>
            <a:r>
              <a:rPr lang="en-ZA" b="1" dirty="0">
                <a:effectLst/>
                <a:ea typeface="Calibri" panose="020F0502020204030204" pitchFamily="34" charset="0"/>
                <a:cs typeface="Times New Roman" panose="02020603050405020304" pitchFamily="18" charset="0"/>
              </a:rPr>
              <a:t>b) Encoding </a:t>
            </a:r>
          </a:p>
          <a:p>
            <a:r>
              <a:rPr lang="en-ZA" dirty="0">
                <a:effectLst/>
                <a:ea typeface="Calibri" panose="020F0502020204030204" pitchFamily="34" charset="0"/>
              </a:rPr>
              <a:t>This is putting the message in a right form for easy understanding when the receiver gets it.</a:t>
            </a:r>
          </a:p>
          <a:p>
            <a:r>
              <a:rPr lang="en-ZA" dirty="0">
                <a:ea typeface="Calibri" panose="020F0502020204030204" pitchFamily="34" charset="0"/>
              </a:rPr>
              <a:t>It is the process of creating the message for transmission</a:t>
            </a:r>
            <a:endParaRPr lang="en-ZA" dirty="0">
              <a:effectLst/>
              <a:ea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1473882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10046-F24B-7FE0-80A7-DE4366EA78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6169E2-DB69-A02B-CB2B-BAC610381DF3}"/>
              </a:ext>
            </a:extLst>
          </p:cNvPr>
          <p:cNvSpPr>
            <a:spLocks noGrp="1"/>
          </p:cNvSpPr>
          <p:nvPr>
            <p:ph idx="1"/>
          </p:nvPr>
        </p:nvSpPr>
        <p:spPr/>
        <p:txBody>
          <a:bodyPr>
            <a:normAutofit fontScale="85000" lnSpcReduction="20000"/>
          </a:bodyPr>
          <a:lstStyle/>
          <a:p>
            <a:pPr marL="0" indent="0">
              <a:buNone/>
            </a:pPr>
            <a:r>
              <a:rPr lang="en-ZA" b="1" dirty="0">
                <a:effectLst/>
                <a:ea typeface="Calibri" panose="020F0502020204030204" pitchFamily="34" charset="0"/>
                <a:cs typeface="Times New Roman" panose="02020603050405020304" pitchFamily="18" charset="0"/>
              </a:rPr>
              <a:t>c) Message </a:t>
            </a:r>
          </a:p>
          <a:p>
            <a:r>
              <a:rPr lang="en-ZA" dirty="0">
                <a:effectLst/>
                <a:ea typeface="Calibri" panose="020F0502020204030204" pitchFamily="34" charset="0"/>
              </a:rPr>
              <a:t>The idea or the information that is being communicated. </a:t>
            </a:r>
          </a:p>
          <a:p>
            <a:r>
              <a:rPr lang="en-GB" dirty="0">
                <a:effectLst/>
                <a:ea typeface="Calibri" panose="020F0502020204030204" pitchFamily="34" charset="0"/>
              </a:rPr>
              <a:t>The message, is what is sent by the information source and received by the destination/target audience/receiver</a:t>
            </a:r>
          </a:p>
          <a:p>
            <a:pPr marL="0" marR="0" lvl="0" indent="0" algn="just">
              <a:lnSpc>
                <a:spcPct val="115000"/>
              </a:lnSpc>
              <a:spcBef>
                <a:spcPts val="0"/>
              </a:spcBef>
              <a:spcAft>
                <a:spcPts val="1000"/>
              </a:spcAft>
              <a:buNone/>
            </a:pPr>
            <a:r>
              <a:rPr lang="en-ZA" sz="2800" b="1" dirty="0">
                <a:effectLst/>
                <a:ea typeface="Calibri" panose="020F0502020204030204" pitchFamily="34" charset="0"/>
                <a:cs typeface="Times New Roman" panose="02020603050405020304" pitchFamily="18" charset="0"/>
              </a:rPr>
              <a:t>d) Medium</a:t>
            </a:r>
          </a:p>
          <a:p>
            <a:pPr marR="0" lvl="0" algn="just">
              <a:lnSpc>
                <a:spcPct val="115000"/>
              </a:lnSpc>
              <a:spcBef>
                <a:spcPts val="0"/>
              </a:spcBef>
              <a:spcAft>
                <a:spcPts val="1000"/>
              </a:spcAft>
            </a:pPr>
            <a:r>
              <a:rPr lang="en-ZA" sz="2800" dirty="0">
                <a:effectLst/>
                <a:ea typeface="Calibri" panose="020F0502020204030204" pitchFamily="34" charset="0"/>
                <a:cs typeface="Times New Roman" panose="02020603050405020304" pitchFamily="18" charset="0"/>
              </a:rPr>
              <a:t>This is the form in which the message is put. </a:t>
            </a:r>
          </a:p>
          <a:p>
            <a:pPr marR="0" lvl="0" algn="just">
              <a:lnSpc>
                <a:spcPct val="115000"/>
              </a:lnSpc>
              <a:spcBef>
                <a:spcPts val="0"/>
              </a:spcBef>
              <a:spcAft>
                <a:spcPts val="1000"/>
              </a:spcAft>
            </a:pPr>
            <a:r>
              <a:rPr lang="en-GB" sz="2800" dirty="0">
                <a:effectLst/>
                <a:ea typeface="Calibri" panose="020F0502020204030204" pitchFamily="34" charset="0"/>
                <a:cs typeface="Times New Roman" panose="02020603050405020304" pitchFamily="18" charset="0"/>
              </a:rPr>
              <a:t>The medium is the means of communication, such as print, mass, electronic, and digital. </a:t>
            </a:r>
            <a:endParaRPr lang="en-US" sz="2800" dirty="0">
              <a:effectLst/>
              <a:ea typeface="Calibri" panose="020F0502020204030204" pitchFamily="34" charset="0"/>
              <a:cs typeface="Times New Roman" panose="02020603050405020304" pitchFamily="18" charset="0"/>
            </a:endParaRPr>
          </a:p>
          <a:p>
            <a:pPr marL="0" indent="0">
              <a:buNone/>
            </a:pPr>
            <a:endParaRPr lang="en-US" dirty="0">
              <a:effectLst/>
              <a:latin typeface="+mj-lt"/>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998667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444E7-562D-44AA-EFFC-42D77EDB4E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FCA2A1-CCB3-816D-5538-5CDA1E6832E5}"/>
              </a:ext>
            </a:extLst>
          </p:cNvPr>
          <p:cNvSpPr>
            <a:spLocks noGrp="1"/>
          </p:cNvSpPr>
          <p:nvPr>
            <p:ph idx="1"/>
          </p:nvPr>
        </p:nvSpPr>
        <p:spPr/>
        <p:txBody>
          <a:bodyPr>
            <a:normAutofit fontScale="25000" lnSpcReduction="20000"/>
          </a:bodyPr>
          <a:lstStyle/>
          <a:p>
            <a:pPr marL="0" marR="0" lvl="0" indent="0" algn="just">
              <a:lnSpc>
                <a:spcPct val="115000"/>
              </a:lnSpc>
              <a:spcBef>
                <a:spcPts val="0"/>
              </a:spcBef>
              <a:spcAft>
                <a:spcPts val="1000"/>
              </a:spcAft>
              <a:buNone/>
            </a:pPr>
            <a:r>
              <a:rPr lang="en-ZA" sz="9600" b="1" dirty="0">
                <a:effectLst/>
                <a:ea typeface="Calibri" panose="020F0502020204030204" pitchFamily="34" charset="0"/>
                <a:cs typeface="Times New Roman" panose="02020603050405020304" pitchFamily="18" charset="0"/>
              </a:rPr>
              <a:t>e) Channel </a:t>
            </a:r>
          </a:p>
          <a:p>
            <a:pPr marR="0" lvl="0" algn="just">
              <a:lnSpc>
                <a:spcPct val="115000"/>
              </a:lnSpc>
              <a:spcBef>
                <a:spcPts val="0"/>
              </a:spcBef>
              <a:spcAft>
                <a:spcPts val="1000"/>
              </a:spcAft>
            </a:pPr>
            <a:r>
              <a:rPr lang="en-ZA" sz="9600" dirty="0">
                <a:effectLst/>
                <a:ea typeface="Calibri" panose="020F0502020204030204" pitchFamily="34" charset="0"/>
                <a:cs typeface="Times New Roman" panose="02020603050405020304" pitchFamily="18" charset="0"/>
              </a:rPr>
              <a:t>This is the path through which the message will pass in order to reach the receiver.</a:t>
            </a:r>
          </a:p>
          <a:p>
            <a:pPr marR="0" lvl="0" algn="just">
              <a:lnSpc>
                <a:spcPct val="115000"/>
              </a:lnSpc>
              <a:spcBef>
                <a:spcPts val="0"/>
              </a:spcBef>
              <a:spcAft>
                <a:spcPts val="1000"/>
              </a:spcAft>
            </a:pPr>
            <a:r>
              <a:rPr lang="en-ZA" sz="9600" dirty="0">
                <a:ea typeface="Calibri" panose="020F0502020204030204" pitchFamily="34" charset="0"/>
                <a:cs typeface="Times New Roman" panose="02020603050405020304" pitchFamily="18" charset="0"/>
              </a:rPr>
              <a:t>These include: phone calls, email, social media platforms and many more. </a:t>
            </a:r>
            <a:endParaRPr lang="en-US" sz="9600" dirty="0">
              <a:effectLst/>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pPr>
            <a:r>
              <a:rPr lang="en-ZA" sz="9600" b="1" dirty="0">
                <a:effectLst/>
                <a:ea typeface="Calibri" panose="020F0502020204030204" pitchFamily="34" charset="0"/>
                <a:cs typeface="Times New Roman" panose="02020603050405020304" pitchFamily="18" charset="0"/>
              </a:rPr>
              <a:t>f) Receiver</a:t>
            </a:r>
          </a:p>
          <a:p>
            <a:pPr marR="0" lvl="0" algn="just">
              <a:lnSpc>
                <a:spcPct val="115000"/>
              </a:lnSpc>
              <a:spcBef>
                <a:spcPts val="0"/>
              </a:spcBef>
              <a:spcAft>
                <a:spcPts val="1000"/>
              </a:spcAft>
            </a:pPr>
            <a:r>
              <a:rPr lang="en-ZA" sz="9600" dirty="0">
                <a:effectLst/>
                <a:ea typeface="Calibri" panose="020F0502020204030204" pitchFamily="34" charset="0"/>
                <a:cs typeface="Times New Roman" panose="02020603050405020304" pitchFamily="18" charset="0"/>
              </a:rPr>
              <a:t>The one who is targeted to get the message, also called the audience, recipient.</a:t>
            </a:r>
          </a:p>
          <a:p>
            <a:pPr marL="0" marR="0" lvl="0" indent="0" algn="just">
              <a:lnSpc>
                <a:spcPct val="115000"/>
              </a:lnSpc>
              <a:spcBef>
                <a:spcPts val="0"/>
              </a:spcBef>
              <a:spcAft>
                <a:spcPts val="1000"/>
              </a:spcAft>
              <a:buNone/>
            </a:pPr>
            <a:r>
              <a:rPr lang="en-ZA" sz="9600" b="1" dirty="0">
                <a:ea typeface="Calibri" panose="020F0502020204030204" pitchFamily="34" charset="0"/>
                <a:cs typeface="Times New Roman" panose="02020603050405020304" pitchFamily="18" charset="0"/>
              </a:rPr>
              <a:t>g</a:t>
            </a:r>
            <a:r>
              <a:rPr lang="en-ZA" sz="9600" dirty="0">
                <a:ea typeface="Calibri" panose="020F0502020204030204" pitchFamily="34" charset="0"/>
                <a:cs typeface="Times New Roman" panose="02020603050405020304" pitchFamily="18" charset="0"/>
              </a:rPr>
              <a:t>) </a:t>
            </a:r>
            <a:r>
              <a:rPr lang="en-ZA" sz="9600" b="1" dirty="0">
                <a:effectLst/>
                <a:ea typeface="Calibri" panose="020F0502020204030204" pitchFamily="34" charset="0"/>
                <a:cs typeface="Times New Roman" panose="02020603050405020304" pitchFamily="18" charset="0"/>
              </a:rPr>
              <a:t>Decoding</a:t>
            </a:r>
          </a:p>
          <a:p>
            <a:pPr marR="0" lvl="0" algn="just">
              <a:lnSpc>
                <a:spcPct val="115000"/>
              </a:lnSpc>
              <a:spcBef>
                <a:spcPts val="0"/>
              </a:spcBef>
              <a:spcAft>
                <a:spcPts val="1000"/>
              </a:spcAft>
            </a:pPr>
            <a:r>
              <a:rPr lang="en-ZA" sz="9600" dirty="0">
                <a:effectLst/>
                <a:ea typeface="Calibri" panose="020F0502020204030204" pitchFamily="34" charset="0"/>
                <a:cs typeface="Times New Roman" panose="02020603050405020304" pitchFamily="18" charset="0"/>
              </a:rPr>
              <a:t>Is interpreting the message </a:t>
            </a:r>
            <a:r>
              <a:rPr lang="en-ZA" sz="9600" dirty="0">
                <a:ea typeface="Calibri" panose="020F0502020204030204" pitchFamily="34" charset="0"/>
                <a:cs typeface="Times New Roman" panose="02020603050405020304" pitchFamily="18" charset="0"/>
              </a:rPr>
              <a:t>in order </a:t>
            </a:r>
            <a:r>
              <a:rPr lang="en-ZA" sz="9600" dirty="0">
                <a:effectLst/>
                <a:ea typeface="Calibri" panose="020F0502020204030204" pitchFamily="34" charset="0"/>
                <a:cs typeface="Times New Roman" panose="02020603050405020304" pitchFamily="18" charset="0"/>
              </a:rPr>
              <a:t>to understand the idea that it carries. When the encoders’ message is accessed, the receiver tries to make sense of it up by decoding</a:t>
            </a:r>
            <a:r>
              <a:rPr lang="en-GB" sz="9600" dirty="0">
                <a:effectLst/>
                <a:ea typeface="Calibri" panose="020F0502020204030204" pitchFamily="34" charset="0"/>
                <a:cs typeface="Times New Roman" panose="02020603050405020304" pitchFamily="18" charset="0"/>
              </a:rPr>
              <a:t>.</a:t>
            </a:r>
            <a:endParaRPr lang="en-US" sz="9600" dirty="0">
              <a:effectLst/>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03616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0BBA6-FD0B-B1D6-FED5-8855FEADFF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F604E7-BB82-0909-8D4A-125ABBFA591A}"/>
              </a:ext>
            </a:extLst>
          </p:cNvPr>
          <p:cNvSpPr>
            <a:spLocks noGrp="1"/>
          </p:cNvSpPr>
          <p:nvPr>
            <p:ph idx="1"/>
          </p:nvPr>
        </p:nvSpPr>
        <p:spPr/>
        <p:txBody>
          <a:bodyPr>
            <a:normAutofit/>
          </a:bodyPr>
          <a:lstStyle/>
          <a:p>
            <a:pPr marL="0" indent="0">
              <a:buNone/>
            </a:pPr>
            <a:r>
              <a:rPr lang="en-ZA" sz="2400" b="1" dirty="0">
                <a:effectLst/>
                <a:ea typeface="Calibri" panose="020F0502020204030204" pitchFamily="34" charset="0"/>
                <a:cs typeface="Times New Roman" panose="02020603050405020304" pitchFamily="18" charset="0"/>
              </a:rPr>
              <a:t>h</a:t>
            </a:r>
            <a:r>
              <a:rPr lang="en-ZA" b="1" dirty="0">
                <a:effectLst/>
                <a:ea typeface="Calibri" panose="020F0502020204030204" pitchFamily="34" charset="0"/>
                <a:cs typeface="Times New Roman" panose="02020603050405020304" pitchFamily="18" charset="0"/>
              </a:rPr>
              <a:t>) Feedback</a:t>
            </a:r>
          </a:p>
          <a:p>
            <a:r>
              <a:rPr lang="en-ZA" dirty="0">
                <a:effectLst/>
                <a:ea typeface="Calibri" panose="020F0502020204030204" pitchFamily="34" charset="0"/>
                <a:cs typeface="Times New Roman" panose="02020603050405020304" pitchFamily="18" charset="0"/>
              </a:rPr>
              <a:t>The response by the receiver of the message to the sender. </a:t>
            </a:r>
            <a:r>
              <a:rPr lang="en-GB" dirty="0">
                <a:effectLst/>
                <a:ea typeface="Calibri" panose="020F0502020204030204" pitchFamily="34" charset="0"/>
                <a:cs typeface="Times New Roman" panose="02020603050405020304" pitchFamily="18" charset="0"/>
              </a:rPr>
              <a:t>In face-to-face conversation, feedback is more easily perceived or noted. The sender can tell if the receivers are paying attention when he speaks to them. The receiver decodes or makes out the meaning of the message. </a:t>
            </a:r>
          </a:p>
          <a:p>
            <a:r>
              <a:rPr lang="en-GB" dirty="0">
                <a:effectLst/>
                <a:ea typeface="Calibri" panose="020F0502020204030204" pitchFamily="34" charset="0"/>
                <a:cs typeface="Times New Roman" panose="02020603050405020304" pitchFamily="18" charset="0"/>
              </a:rPr>
              <a:t>Thus, in the feedback loop, the receiver becomes the sender and the sender becomes the receiver. Feedback is important because of these reasons:</a:t>
            </a:r>
          </a:p>
          <a:p>
            <a:endParaRPr lang="en-US" dirty="0"/>
          </a:p>
        </p:txBody>
      </p:sp>
    </p:spTree>
    <p:extLst>
      <p:ext uri="{BB962C8B-B14F-4D97-AF65-F5344CB8AC3E}">
        <p14:creationId xmlns:p14="http://schemas.microsoft.com/office/powerpoint/2010/main" val="3527950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6F11-9E86-75EE-8044-DC4777A2B1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4F345D-381E-01FC-1243-E4A95B8D46E3}"/>
              </a:ext>
            </a:extLst>
          </p:cNvPr>
          <p:cNvSpPr>
            <a:spLocks noGrp="1"/>
          </p:cNvSpPr>
          <p:nvPr>
            <p:ph idx="1"/>
          </p:nvPr>
        </p:nvSpPr>
        <p:spPr/>
        <p:txBody>
          <a:bodyPr>
            <a:normAutofit fontScale="92500" lnSpcReduction="20000"/>
          </a:bodyPr>
          <a:lstStyle/>
          <a:p>
            <a:pPr marL="1143000" marR="0" lvl="2" indent="-228600" algn="just">
              <a:lnSpc>
                <a:spcPct val="115000"/>
              </a:lnSpc>
              <a:spcBef>
                <a:spcPts val="0"/>
              </a:spcBef>
              <a:spcAft>
                <a:spcPts val="1000"/>
              </a:spcAft>
              <a:buFont typeface="+mj-lt"/>
              <a:buAutoNum type="romanLcPeriod"/>
            </a:pPr>
            <a:r>
              <a:rPr lang="en-GB" sz="2800" i="1" dirty="0">
                <a:effectLst/>
                <a:ea typeface="Calibri" panose="020F0502020204030204" pitchFamily="34" charset="0"/>
                <a:cs typeface="Times New Roman" panose="02020603050405020304" pitchFamily="18" charset="0"/>
              </a:rPr>
              <a:t>Feedback ensures that mutual understanding has taken place in communication </a:t>
            </a:r>
            <a:endParaRPr lang="en-US" sz="2800" dirty="0">
              <a:effectLst/>
              <a:ea typeface="Calibri" panose="020F0502020204030204" pitchFamily="34" charset="0"/>
              <a:cs typeface="Times New Roman" panose="02020603050405020304" pitchFamily="18" charset="0"/>
            </a:endParaRPr>
          </a:p>
          <a:p>
            <a:pPr marL="1143000" marR="0" lvl="2" indent="-228600" algn="just">
              <a:lnSpc>
                <a:spcPct val="115000"/>
              </a:lnSpc>
              <a:spcBef>
                <a:spcPts val="0"/>
              </a:spcBef>
              <a:spcAft>
                <a:spcPts val="1000"/>
              </a:spcAft>
              <a:buFont typeface="+mj-lt"/>
              <a:buAutoNum type="romanLcPeriod"/>
            </a:pPr>
            <a:r>
              <a:rPr lang="en-GB" sz="2800" i="1" dirty="0">
                <a:effectLst/>
                <a:ea typeface="Calibri" panose="020F0502020204030204" pitchFamily="34" charset="0"/>
                <a:cs typeface="Times New Roman" panose="02020603050405020304" pitchFamily="18" charset="0"/>
              </a:rPr>
              <a:t>It also completes the communication cycle. </a:t>
            </a:r>
            <a:endParaRPr lang="en-US" sz="2800" dirty="0">
              <a:effectLst/>
              <a:ea typeface="Calibri" panose="020F0502020204030204" pitchFamily="34" charset="0"/>
              <a:cs typeface="Times New Roman" panose="02020603050405020304" pitchFamily="18" charset="0"/>
            </a:endParaRPr>
          </a:p>
          <a:p>
            <a:pPr marL="1143000" marR="0" lvl="2" indent="-228600" algn="just">
              <a:lnSpc>
                <a:spcPct val="115000"/>
              </a:lnSpc>
              <a:spcBef>
                <a:spcPts val="0"/>
              </a:spcBef>
              <a:spcAft>
                <a:spcPts val="1000"/>
              </a:spcAft>
              <a:buFont typeface="+mj-lt"/>
              <a:buAutoNum type="romanLcPeriod"/>
            </a:pPr>
            <a:r>
              <a:rPr lang="en-GB" sz="2800" i="1" dirty="0">
                <a:effectLst/>
                <a:ea typeface="Calibri" panose="020F0502020204030204" pitchFamily="34" charset="0"/>
                <a:cs typeface="Times New Roman" panose="02020603050405020304" pitchFamily="18" charset="0"/>
              </a:rPr>
              <a:t>It helps the sender to modify his message. </a:t>
            </a:r>
            <a:endParaRPr lang="en-US" sz="2800" dirty="0">
              <a:ea typeface="Calibri" panose="020F0502020204030204" pitchFamily="34" charset="0"/>
              <a:cs typeface="Times New Roman" panose="02020603050405020304" pitchFamily="18" charset="0"/>
            </a:endParaRPr>
          </a:p>
          <a:p>
            <a:pPr marL="1143000" marR="0" lvl="2" indent="-228600" algn="just">
              <a:lnSpc>
                <a:spcPct val="115000"/>
              </a:lnSpc>
              <a:spcBef>
                <a:spcPts val="0"/>
              </a:spcBef>
              <a:spcAft>
                <a:spcPts val="1000"/>
              </a:spcAft>
              <a:buFont typeface="+mj-lt"/>
              <a:buAutoNum type="romanLcPeriod"/>
            </a:pPr>
            <a:r>
              <a:rPr lang="en-GB" sz="2800" i="1" dirty="0">
                <a:effectLst/>
                <a:ea typeface="Calibri" panose="020F0502020204030204" pitchFamily="34" charset="0"/>
                <a:cs typeface="Times New Roman" panose="02020603050405020304" pitchFamily="18" charset="0"/>
              </a:rPr>
              <a:t>It shows that message has reached the receiver</a:t>
            </a:r>
            <a:endParaRPr lang="en-US" sz="2800" dirty="0">
              <a:effectLst/>
              <a:ea typeface="Calibri" panose="020F0502020204030204" pitchFamily="34" charset="0"/>
              <a:cs typeface="Times New Roman" panose="02020603050405020304" pitchFamily="18" charset="0"/>
            </a:endParaRPr>
          </a:p>
          <a:p>
            <a:pPr marL="514350" indent="-514350">
              <a:buAutoNum type="romanLcParenR"/>
            </a:pPr>
            <a:r>
              <a:rPr lang="en-US" b="1" dirty="0">
                <a:effectLst/>
                <a:ea typeface="Calibri" panose="020F0502020204030204" pitchFamily="34" charset="0"/>
                <a:cs typeface="Times New Roman" panose="02020603050405020304" pitchFamily="18" charset="0"/>
              </a:rPr>
              <a:t>Barrier </a:t>
            </a:r>
            <a:endParaRPr lang="en-US" dirty="0">
              <a:effectLst/>
              <a:ea typeface="Calibri" panose="020F0502020204030204" pitchFamily="34" charset="0"/>
              <a:cs typeface="Times New Roman" panose="02020603050405020304" pitchFamily="18" charset="0"/>
            </a:endParaRPr>
          </a:p>
          <a:p>
            <a:r>
              <a:rPr lang="en-ZA" dirty="0">
                <a:effectLst/>
                <a:ea typeface="Calibri" panose="020F0502020204030204" pitchFamily="34" charset="0"/>
              </a:rPr>
              <a:t>This is any impediment to the message</a:t>
            </a:r>
            <a:endParaRPr lang="en-US" dirty="0">
              <a:effectLst/>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95305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FAC21-16C1-8B43-3AE9-CA3E6F123B1F}"/>
              </a:ext>
            </a:extLst>
          </p:cNvPr>
          <p:cNvSpPr>
            <a:spLocks noGrp="1"/>
          </p:cNvSpPr>
          <p:nvPr>
            <p:ph type="title"/>
          </p:nvPr>
        </p:nvSpPr>
        <p:spPr/>
        <p:txBody>
          <a:bodyPr/>
          <a:lstStyle/>
          <a:p>
            <a:r>
              <a:rPr lang="en-US" b="1" dirty="0"/>
              <a:t>Objectives of Communication</a:t>
            </a:r>
          </a:p>
        </p:txBody>
      </p:sp>
      <p:sp>
        <p:nvSpPr>
          <p:cNvPr id="3" name="Content Placeholder 2">
            <a:extLst>
              <a:ext uri="{FF2B5EF4-FFF2-40B4-BE49-F238E27FC236}">
                <a16:creationId xmlns:a16="http://schemas.microsoft.com/office/drawing/2014/main" id="{B85BABF8-0C24-9336-CA53-5B50A71ADF4B}"/>
              </a:ext>
            </a:extLst>
          </p:cNvPr>
          <p:cNvSpPr>
            <a:spLocks noGrp="1"/>
          </p:cNvSpPr>
          <p:nvPr>
            <p:ph idx="1"/>
          </p:nvPr>
        </p:nvSpPr>
        <p:spPr/>
        <p:txBody>
          <a:bodyPr>
            <a:normAutofit lnSpcReduction="10000"/>
          </a:bodyPr>
          <a:lstStyle/>
          <a:p>
            <a:pPr marL="514350" indent="-514350">
              <a:buFont typeface="+mj-lt"/>
              <a:buAutoNum type="alphaLcParenR"/>
            </a:pPr>
            <a:r>
              <a:rPr lang="en-US" dirty="0"/>
              <a:t>To be received (heard or read)</a:t>
            </a:r>
          </a:p>
          <a:p>
            <a:pPr marL="514350" indent="-514350">
              <a:buFont typeface="+mj-lt"/>
              <a:buAutoNum type="alphaLcParenR"/>
            </a:pPr>
            <a:r>
              <a:rPr lang="en-US" dirty="0"/>
              <a:t>To be understood</a:t>
            </a:r>
          </a:p>
          <a:p>
            <a:pPr marL="514350" indent="-514350">
              <a:buFont typeface="+mj-lt"/>
              <a:buAutoNum type="alphaLcParenR"/>
            </a:pPr>
            <a:r>
              <a:rPr lang="en-US" dirty="0"/>
              <a:t>To be accepted</a:t>
            </a:r>
          </a:p>
          <a:p>
            <a:pPr marL="514350" indent="-514350">
              <a:buFont typeface="+mj-lt"/>
              <a:buAutoNum type="alphaLcParenR"/>
            </a:pPr>
            <a:r>
              <a:rPr lang="en-US" dirty="0"/>
              <a:t>To get action (change of behaviour or attitude)</a:t>
            </a:r>
          </a:p>
          <a:p>
            <a:r>
              <a:rPr lang="en-US" dirty="0"/>
              <a:t>When we fail to achieve any of these, that means communication has failed.</a:t>
            </a:r>
          </a:p>
          <a:p>
            <a:r>
              <a:rPr lang="en-US" dirty="0"/>
              <a:t>This can read to frustration and resentment expressed in phrases like “Don’t you understand plain English?”</a:t>
            </a:r>
          </a:p>
        </p:txBody>
      </p:sp>
    </p:spTree>
    <p:extLst>
      <p:ext uri="{BB962C8B-B14F-4D97-AF65-F5344CB8AC3E}">
        <p14:creationId xmlns:p14="http://schemas.microsoft.com/office/powerpoint/2010/main" val="1494775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84AD-BC7A-DA74-DE35-58263C8C0ACA}"/>
              </a:ext>
            </a:extLst>
          </p:cNvPr>
          <p:cNvSpPr>
            <a:spLocks noGrp="1"/>
          </p:cNvSpPr>
          <p:nvPr>
            <p:ph type="title"/>
          </p:nvPr>
        </p:nvSpPr>
        <p:spPr/>
        <p:txBody>
          <a:bodyPr/>
          <a:lstStyle/>
          <a:p>
            <a:r>
              <a:rPr lang="en-US" b="1" dirty="0"/>
              <a:t>Barriers to communication</a:t>
            </a:r>
          </a:p>
        </p:txBody>
      </p:sp>
      <p:sp>
        <p:nvSpPr>
          <p:cNvPr id="3" name="Content Placeholder 2">
            <a:extLst>
              <a:ext uri="{FF2B5EF4-FFF2-40B4-BE49-F238E27FC236}">
                <a16:creationId xmlns:a16="http://schemas.microsoft.com/office/drawing/2014/main" id="{77F71331-D991-2524-A92C-75466838BE6A}"/>
              </a:ext>
            </a:extLst>
          </p:cNvPr>
          <p:cNvSpPr>
            <a:spLocks noGrp="1"/>
          </p:cNvSpPr>
          <p:nvPr>
            <p:ph idx="1"/>
          </p:nvPr>
        </p:nvSpPr>
        <p:spPr/>
        <p:txBody>
          <a:bodyPr>
            <a:normAutofit fontScale="92500" lnSpcReduction="20000"/>
          </a:bodyPr>
          <a:lstStyle/>
          <a:p>
            <a:r>
              <a:rPr lang="en-US" dirty="0"/>
              <a:t>Differences in perception</a:t>
            </a:r>
          </a:p>
          <a:p>
            <a:r>
              <a:rPr lang="en-US" dirty="0"/>
              <a:t>Jumping to conclusions</a:t>
            </a:r>
          </a:p>
          <a:p>
            <a:r>
              <a:rPr lang="en-US" dirty="0"/>
              <a:t>Stereotyping </a:t>
            </a:r>
          </a:p>
          <a:p>
            <a:r>
              <a:rPr lang="en-US" dirty="0"/>
              <a:t>Lack of knowledge</a:t>
            </a:r>
          </a:p>
          <a:p>
            <a:r>
              <a:rPr lang="en-US" dirty="0"/>
              <a:t>Lack of interest</a:t>
            </a:r>
          </a:p>
          <a:p>
            <a:r>
              <a:rPr lang="en-US" dirty="0"/>
              <a:t>Difficulties with self-expression</a:t>
            </a:r>
          </a:p>
          <a:p>
            <a:r>
              <a:rPr lang="en-US" dirty="0"/>
              <a:t>Emotions </a:t>
            </a:r>
          </a:p>
          <a:p>
            <a:r>
              <a:rPr lang="en-US" dirty="0"/>
              <a:t>Personality</a:t>
            </a:r>
          </a:p>
        </p:txBody>
      </p:sp>
    </p:spTree>
    <p:extLst>
      <p:ext uri="{BB962C8B-B14F-4D97-AF65-F5344CB8AC3E}">
        <p14:creationId xmlns:p14="http://schemas.microsoft.com/office/powerpoint/2010/main" val="36614650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TotalTime>
  <Words>600</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Garamond</vt:lpstr>
      <vt:lpstr>Times New Roman</vt:lpstr>
      <vt:lpstr>Wingdings</vt:lpstr>
      <vt:lpstr>Organic</vt:lpstr>
      <vt:lpstr>LANGUAGE AND COMMUNICATION SKILLS </vt:lpstr>
      <vt:lpstr>What is Communication?</vt:lpstr>
      <vt:lpstr>PowerPoint Presentation</vt:lpstr>
      <vt:lpstr>ELEMENTS OF COMMUNICATION</vt:lpstr>
      <vt:lpstr>PowerPoint Presentation</vt:lpstr>
      <vt:lpstr>PowerPoint Presentation</vt:lpstr>
      <vt:lpstr>PowerPoint Presentation</vt:lpstr>
      <vt:lpstr>PowerPoint Presentation</vt:lpstr>
      <vt:lpstr>Objectives of Communication</vt:lpstr>
      <vt:lpstr>Barriers to communication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AND COMMUNICATION SKILLS </dc:title>
  <dc:creator>Bridget Chimtali</dc:creator>
  <cp:lastModifiedBy>Bridget Chimtali</cp:lastModifiedBy>
  <cp:revision>1</cp:revision>
  <dcterms:created xsi:type="dcterms:W3CDTF">2024-11-11T12:37:20Z</dcterms:created>
  <dcterms:modified xsi:type="dcterms:W3CDTF">2024-11-11T12:39:38Z</dcterms:modified>
</cp:coreProperties>
</file>